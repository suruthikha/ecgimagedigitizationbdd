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2" r:id="rId1"/>
  </p:sldMasterIdLst>
  <p:notesMasterIdLst>
    <p:notesMasterId r:id="rId17"/>
  </p:notesMasterIdLst>
  <p:sldIdLst>
    <p:sldId id="264" r:id="rId2"/>
    <p:sldId id="257" r:id="rId3"/>
    <p:sldId id="269" r:id="rId4"/>
    <p:sldId id="280" r:id="rId5"/>
    <p:sldId id="281" r:id="rId6"/>
    <p:sldId id="260" r:id="rId7"/>
    <p:sldId id="282" r:id="rId8"/>
    <p:sldId id="283" r:id="rId9"/>
    <p:sldId id="284" r:id="rId10"/>
    <p:sldId id="275" r:id="rId11"/>
    <p:sldId id="268" r:id="rId12"/>
    <p:sldId id="263" r:id="rId13"/>
    <p:sldId id="285" r:id="rId14"/>
    <p:sldId id="271"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F1F623-597C-FD1D-CD78-99E9CDC2B255}" name="Suruthikha Vijay" initials="SV" userId="S::svijay4@jh.edu::8abc577f-545a-41ae-a292-ebda8d2bcdf4" providerId="AD"/>
  <p188:author id="{A7D0DFA4-116B-FEAF-3BDD-5329616F452C}" name="Ansh Goyal" initials="AG" userId="S::agoyal19@jh.edu::d16382db-f313-43ac-b65b-f93aec8bab8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74201"/>
  </p:normalViewPr>
  <p:slideViewPr>
    <p:cSldViewPr snapToGrid="0">
      <p:cViewPr varScale="1">
        <p:scale>
          <a:sx n="82" d="100"/>
          <a:sy n="82" d="100"/>
        </p:scale>
        <p:origin x="1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A71D9-78FA-4790-9922-ED729C2DAFD0}" type="datetimeFigureOut">
              <a:t>10/29/26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9D7141-1882-42A4-98BA-EFEE06EC22FF}" type="slidenum">
              <a:t>‹#›</a:t>
            </a:fld>
            <a:endParaRPr lang="en-US"/>
          </a:p>
        </p:txBody>
      </p:sp>
    </p:spTree>
    <p:extLst>
      <p:ext uri="{BB962C8B-B14F-4D97-AF65-F5344CB8AC3E}">
        <p14:creationId xmlns:p14="http://schemas.microsoft.com/office/powerpoint/2010/main" val="3095384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sz="1800" dirty="0"/>
              <a:t>ECGs are still commonly printed on thermal paper, and that isn’t going away anytime soon.</a:t>
            </a:r>
          </a:p>
          <a:p>
            <a:pPr marL="171450" lvl="0" indent="-171450" rtl="0">
              <a:buFont typeface="Arial" panose="020B0604020202020204" pitchFamily="34" charset="0"/>
              <a:buChar char="•"/>
            </a:pPr>
            <a:r>
              <a:rPr lang="en-US" sz="1800" dirty="0"/>
              <a:t>It’s reliable, standardized, and clinicians are trained to read it directly off the page.</a:t>
            </a:r>
          </a:p>
          <a:p>
            <a:pPr marL="171450" lvl="0" indent="-171450" rtl="0">
              <a:buFont typeface="Arial" panose="020B0604020202020204" pitchFamily="34" charset="0"/>
              <a:buChar char="•"/>
            </a:pPr>
            <a:r>
              <a:rPr lang="en-US" sz="1800" dirty="0"/>
              <a:t>That creates a real problem for digital health records and for any AI or ML analysis, since most computerized tools need a time series signal, not a picture of one.</a:t>
            </a:r>
          </a:p>
          <a:p>
            <a:pPr marL="171450" lvl="0" indent="-171450" rtl="0">
              <a:buFont typeface="Arial" panose="020B0604020202020204" pitchFamily="34" charset="0"/>
              <a:buChar char="•"/>
            </a:pPr>
            <a:r>
              <a:rPr lang="en-US" sz="1800" dirty="0"/>
              <a:t>Our task is to take an image of a paper, scanned, or photographed ECG and reconstruct the actual 12-lead signal behind it.</a:t>
            </a:r>
          </a:p>
          <a:p>
            <a:pPr marL="171450" lvl="0" indent="-171450" rtl="0">
              <a:buFont typeface="Arial" panose="020B0604020202020204" pitchFamily="34" charset="0"/>
              <a:buChar char="•"/>
            </a:pPr>
            <a:r>
              <a:rPr lang="en-US" sz="1800" dirty="0"/>
              <a:t>For our baseline, we’re replicating the pipeline from Baydoun et al. from 2019.</a:t>
            </a:r>
          </a:p>
          <a:p>
            <a:pPr marL="171450" lvl="0" indent="-171450" rtl="0">
              <a:buFont typeface="Arial" panose="020B0604020202020204" pitchFamily="34" charset="0"/>
              <a:buChar char="•"/>
            </a:pPr>
            <a:r>
              <a:rPr lang="en-US" sz="1800" dirty="0"/>
              <a:t>We’re benchmarking ourselves against two PhysioNet Challenge 2024 winners, SignalSavants at SNR 12.15 for first place, and WAVIE at 5.469 for third.</a:t>
            </a:r>
          </a:p>
          <a:p>
            <a:pPr marL="171450" lvl="0" indent="-171450" rtl="0">
              <a:buFont typeface="Arial" panose="020B0604020202020204" pitchFamily="34" charset="0"/>
              <a:buChar char="•"/>
            </a:pPr>
            <a:r>
              <a:rPr lang="en-US" sz="1800" dirty="0"/>
              <a:t>Today we’re formalizing how we’ll measure our own performance, digging into a real distortion dataset instead of only synthetic data, and laying out our subgroup analysis plan.</a:t>
            </a:r>
          </a:p>
        </p:txBody>
      </p:sp>
      <p:sp>
        <p:nvSpPr>
          <p:cNvPr id="4" name="Slide Number Placeholder 3"/>
          <p:cNvSpPr>
            <a:spLocks noGrp="1"/>
          </p:cNvSpPr>
          <p:nvPr>
            <p:ph type="sldNum" sz="quarter" idx="5"/>
          </p:nvPr>
        </p:nvSpPr>
        <p:spPr/>
        <p:txBody>
          <a:bodyPr/>
          <a:lstStyle/>
          <a:p>
            <a:fld id="{139D7141-1882-42A4-98BA-EFEE06EC22FF}" type="slidenum">
              <a:rPr lang="en-US" smtClean="0"/>
              <a:t>2</a:t>
            </a:fld>
            <a:endParaRPr lang="en-US"/>
          </a:p>
        </p:txBody>
      </p:sp>
    </p:spTree>
    <p:extLst>
      <p:ext uri="{BB962C8B-B14F-4D97-AF65-F5344CB8AC3E}">
        <p14:creationId xmlns:p14="http://schemas.microsoft.com/office/powerpoint/2010/main" val="1600317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This slide puts all three methods side by side so we can talk about them as one family of approaches.</a:t>
            </a:r>
          </a:p>
          <a:p>
            <a:pPr marL="171450" lvl="0" indent="-171450" rtl="0">
              <a:buFont typeface="Arial" panose="020B0604020202020204" pitchFamily="34" charset="0"/>
              <a:buChar char="•"/>
            </a:pPr>
            <a:r>
              <a:rPr lang="en-US" dirty="0"/>
              <a:t>Baydoun’s baseline is a five stage MATLAB pipeline: detect regions of interest, threshold with Otsu’s method, label connected components, reconstruct the trace with the Hough transform, then post-process.</a:t>
            </a:r>
          </a:p>
          <a:p>
            <a:pPr marL="171450" lvl="0" indent="-171450" rtl="0">
              <a:buFont typeface="Arial" panose="020B0604020202020204" pitchFamily="34" charset="0"/>
              <a:buChar char="•"/>
            </a:pPr>
            <a:r>
              <a:rPr lang="en-US" dirty="0"/>
              <a:t>It’s evaluated with Pearson correlation, averaging 0.952 across thirty ECGs in the original paper.</a:t>
            </a:r>
          </a:p>
          <a:p>
            <a:pPr marL="171450" lvl="0" indent="-171450" rtl="0">
              <a:buFont typeface="Arial" panose="020B0604020202020204" pitchFamily="34" charset="0"/>
              <a:buChar char="•"/>
            </a:pPr>
            <a:endParaRPr lang="en-US" dirty="0"/>
          </a:p>
          <a:p>
            <a:pPr marL="171450" lvl="0" indent="-171450" rtl="0">
              <a:buFont typeface="Arial" panose="020B0604020202020204" pitchFamily="34" charset="0"/>
              <a:buChar char="•"/>
            </a:pPr>
            <a:r>
              <a:rPr lang="en-US" dirty="0"/>
              <a:t>SignalSavants compresses that down to three stages in Python: rotate with the Hough transform, segment with nnU-Net, then vectorize column by column.</a:t>
            </a:r>
          </a:p>
          <a:p>
            <a:pPr marL="171450" lvl="0" indent="-171450" rtl="0">
              <a:buFont typeface="Arial" panose="020B0604020202020204" pitchFamily="34" charset="0"/>
              <a:buChar char="•"/>
            </a:pPr>
            <a:r>
              <a:rPr lang="en-US" dirty="0"/>
              <a:t>They deliberately kept it a hybrid, classical computer vision for rotation, deep learning only where it’s actually needed for segmentation.</a:t>
            </a:r>
          </a:p>
          <a:p>
            <a:pPr marL="171450" lvl="0" indent="-171450" rtl="0">
              <a:buFont typeface="Arial" panose="020B0604020202020204" pitchFamily="34" charset="0"/>
              <a:buChar char="•"/>
            </a:pPr>
            <a:endParaRPr lang="en-US" dirty="0"/>
          </a:p>
          <a:p>
            <a:pPr marL="171450" lvl="0" indent="-171450" rtl="0">
              <a:buFont typeface="Arial" panose="020B0604020202020204" pitchFamily="34" charset="0"/>
              <a:buChar char="•"/>
            </a:pPr>
            <a:r>
              <a:rPr lang="en-US" dirty="0"/>
              <a:t>WAVIE goes the other direction, four fully modular stages, each one its own trained model: learned rotation correction, nnU-Net segmentation, YOLOv5s lead localization, then OpenCV digitization.</a:t>
            </a:r>
          </a:p>
          <a:p>
            <a:pPr marL="171450" lvl="0" indent="-171450" rtl="0">
              <a:buFont typeface="Arial" panose="020B0604020202020204" pitchFamily="34" charset="0"/>
              <a:buChar char="•"/>
            </a:pPr>
            <a:r>
              <a:rPr lang="en-US" dirty="0"/>
              <a:t>Both challenge methods are scored with signal to noise ratio rather than Pearson correlation, which is why we need two separate evaluation metrics.</a:t>
            </a:r>
          </a:p>
          <a:p>
            <a:pPr marL="171450" lvl="0" indent="-171450" rtl="0">
              <a:buFont typeface="Arial" panose="020B0604020202020204" pitchFamily="34" charset="0"/>
              <a:buChar char="•"/>
            </a:pPr>
            <a:endParaRPr lang="en-US" dirty="0"/>
          </a:p>
          <a:p>
            <a:pPr marL="171450" lvl="0" indent="-171450" rtl="0">
              <a:buFont typeface="Arial" panose="020B0604020202020204" pitchFamily="34" charset="0"/>
              <a:buChar char="•"/>
            </a:pPr>
            <a:r>
              <a:rPr lang="en-US" dirty="0"/>
              <a:t>More stages didn’t translate to a better score, SignalSavants’ simpler three stage approach beat WAVIE’s four stage approach.</a:t>
            </a:r>
          </a:p>
          <a:p>
            <a:pPr marL="171450" lvl="0" indent="-171450" rtl="0">
              <a:buFont typeface="Arial" panose="020B0604020202020204" pitchFamily="34" charset="0"/>
              <a:buChar char="•"/>
            </a:pPr>
            <a:r>
              <a:rPr lang="en-US" dirty="0"/>
              <a:t>That suggests every extra stage is another place for error to compound, not another opportunity to improve accuracy.</a:t>
            </a:r>
          </a:p>
        </p:txBody>
      </p:sp>
      <p:sp>
        <p:nvSpPr>
          <p:cNvPr id="4" name="Slide Number Placeholder 3"/>
          <p:cNvSpPr>
            <a:spLocks noGrp="1"/>
          </p:cNvSpPr>
          <p:nvPr>
            <p:ph type="sldNum" sz="quarter" idx="5"/>
          </p:nvPr>
        </p:nvSpPr>
        <p:spPr/>
        <p:txBody>
          <a:bodyPr/>
          <a:lstStyle/>
          <a:p>
            <a:fld id="{139D7141-1882-42A4-98BA-EFEE06EC22FF}" type="slidenum">
              <a:rPr lang="en-US" smtClean="0"/>
              <a:t>3</a:t>
            </a:fld>
            <a:endParaRPr lang="en-US"/>
          </a:p>
        </p:txBody>
      </p:sp>
    </p:spTree>
    <p:extLst>
      <p:ext uri="{BB962C8B-B14F-4D97-AF65-F5344CB8AC3E}">
        <p14:creationId xmlns:p14="http://schemas.microsoft.com/office/powerpoint/2010/main" val="2402711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This is the metric Baydoun et al. used to score their own pipeline, so we’re adopting it to keep our replication directly comparable to their published numbers.</a:t>
            </a:r>
          </a:p>
          <a:p>
            <a:pPr marL="171450" lvl="0" indent="-171450" rtl="0">
              <a:buFont typeface="Arial" panose="020B0604020202020204" pitchFamily="34" charset="0"/>
              <a:buChar char="•"/>
            </a:pPr>
            <a:r>
              <a:rPr lang="en-US" dirty="0"/>
              <a:t>The formula is the standard Pearson correlation coefficient, computed between the reference signal and our digitized signal.</a:t>
            </a:r>
          </a:p>
          <a:p>
            <a:pPr marL="171450" lvl="0" indent="-171450" rtl="0">
              <a:buFont typeface="Arial" panose="020B0604020202020204" pitchFamily="34" charset="0"/>
              <a:buChar char="•"/>
            </a:pPr>
            <a:r>
              <a:rPr lang="en-US" dirty="0"/>
              <a:t>It ranges from negative one to one, where one means a perfect positive linear correlation.</a:t>
            </a:r>
          </a:p>
          <a:p>
            <a:pPr marL="171450" lvl="0" indent="-171450" rtl="0">
              <a:buFont typeface="Arial" panose="020B0604020202020204" pitchFamily="34" charset="0"/>
              <a:buChar char="•"/>
            </a:pPr>
            <a:r>
              <a:rPr lang="en-US" dirty="0"/>
              <a:t>Their published result averaged 0.952 with a standard deviation of 0.036 across thirty ECGs.</a:t>
            </a:r>
          </a:p>
          <a:p>
            <a:pPr marL="171450" lvl="0" indent="-171450" rtl="0">
              <a:buFont typeface="Arial" panose="020B0604020202020204" pitchFamily="34" charset="0"/>
              <a:buChar char="•"/>
            </a:pPr>
            <a:r>
              <a:rPr lang="en-US" dirty="0"/>
              <a:t>We’re aiming for a similar range, but treating it as a sanity check rather than a hard target, since our images and implementation won’t be identical to theirs.</a:t>
            </a:r>
          </a:p>
          <a:p>
            <a:pPr marL="171450" lvl="0" indent="-171450" rtl="0">
              <a:buFont typeface="Arial" panose="020B0604020202020204" pitchFamily="34" charset="0"/>
              <a:buChar char="•"/>
            </a:pPr>
            <a:r>
              <a:rPr lang="en-US" dirty="0"/>
              <a:t>We’re also planning to see whether we can apply this same metric to evaluate SignalSavants and WAVIE against our baseline, for one consistent comparison scale across all three.</a:t>
            </a:r>
          </a:p>
        </p:txBody>
      </p:sp>
      <p:sp>
        <p:nvSpPr>
          <p:cNvPr id="4" name="Slide Number Placeholder 3"/>
          <p:cNvSpPr>
            <a:spLocks noGrp="1"/>
          </p:cNvSpPr>
          <p:nvPr>
            <p:ph type="sldNum" sz="quarter" idx="5"/>
          </p:nvPr>
        </p:nvSpPr>
        <p:spPr/>
        <p:txBody>
          <a:bodyPr/>
          <a:lstStyle/>
          <a:p>
            <a:fld id="{139D7141-1882-42A4-98BA-EFEE06EC22FF}" type="slidenum">
              <a:rPr lang="en-US" smtClean="0"/>
              <a:t>4</a:t>
            </a:fld>
            <a:endParaRPr lang="en-US"/>
          </a:p>
        </p:txBody>
      </p:sp>
    </p:spTree>
    <p:extLst>
      <p:ext uri="{BB962C8B-B14F-4D97-AF65-F5344CB8AC3E}">
        <p14:creationId xmlns:p14="http://schemas.microsoft.com/office/powerpoint/2010/main" val="1246033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SNR is the metric the PhysioNet Challenge actually used to rank teams in 2024, so both SignalSavants and WAVIE were scored on this.</a:t>
            </a:r>
          </a:p>
          <a:p>
            <a:pPr marL="171450" lvl="0" indent="-171450" rtl="0">
              <a:buFont typeface="Arial" panose="020B0604020202020204" pitchFamily="34" charset="0"/>
              <a:buChar char="•"/>
            </a:pPr>
            <a:r>
              <a:rPr lang="en-US" dirty="0"/>
              <a:t>The formula puts reference signal energy in the numerator and reconstruction error energy in the denominator, so a higher SNR means less error relative to the signal.</a:t>
            </a:r>
          </a:p>
          <a:p>
            <a:pPr marL="171450" lvl="0" indent="-171450" rtl="0">
              <a:buFont typeface="Arial" panose="020B0604020202020204" pitchFamily="34" charset="0"/>
              <a:buChar char="•"/>
            </a:pPr>
            <a:r>
              <a:rPr lang="en-US" dirty="0"/>
              <a:t>Before scoring, the digitized signal gets shifted in time and amplitude to maximize its correlation with the reference, within half a second and one millivolt, so small alignment issues don’t unfairly hurt the score.</a:t>
            </a:r>
          </a:p>
          <a:p>
            <a:pPr marL="171450" lvl="0" indent="-171450" rtl="0">
              <a:buFont typeface="Arial" panose="020B0604020202020204" pitchFamily="34" charset="0"/>
              <a:buChar char="•"/>
            </a:pPr>
            <a:r>
              <a:rPr lang="en-US" dirty="0"/>
              <a:t>Samples that never got digitized aren’t scored directly, the final score is instead scaled down by the fraction of samples actually recovered.</a:t>
            </a:r>
          </a:p>
          <a:p>
            <a:pPr marL="171450" lvl="0" indent="-171450" rtl="0">
              <a:buFont typeface="Arial" panose="020B0604020202020204" pitchFamily="34" charset="0"/>
              <a:buChar char="•"/>
            </a:pPr>
            <a:r>
              <a:rPr lang="en-US" dirty="0"/>
              <a:t>Everything is then averaged across all records and all leads.</a:t>
            </a:r>
          </a:p>
          <a:p>
            <a:pPr marL="171450" lvl="0" indent="-171450" rtl="0">
              <a:buFont typeface="Arial" panose="020B0604020202020204" pitchFamily="34" charset="0"/>
              <a:buChar char="•"/>
            </a:pPr>
            <a:r>
              <a:rPr lang="en-US" dirty="0"/>
              <a:t>We’re adopting this specifically so we can place our own baseline on the same scale as SignalSavants at 12.15 and WAVIE at 5.469.</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9D7141-1882-42A4-98BA-EFEE06EC22FF}" type="slidenum">
              <a:rPr lang="en-US" smtClean="0"/>
              <a:t>5</a:t>
            </a:fld>
            <a:endParaRPr lang="en-US"/>
          </a:p>
        </p:txBody>
      </p:sp>
    </p:spTree>
    <p:extLst>
      <p:ext uri="{BB962C8B-B14F-4D97-AF65-F5344CB8AC3E}">
        <p14:creationId xmlns:p14="http://schemas.microsoft.com/office/powerpoint/2010/main" val="219899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ECG-Image-Kit lets us digitally recreate what a thermal paper ECG looks like.</a:t>
            </a:r>
          </a:p>
          <a:p>
            <a:pPr marL="171450" lvl="0" indent="-171450" rtl="0">
              <a:buFont typeface="Arial" panose="020B0604020202020204" pitchFamily="34" charset="0"/>
              <a:buChar char="•"/>
            </a:pPr>
            <a:r>
              <a:rPr lang="en-US" dirty="0"/>
              <a:t>It starts by plotting the actual signal, adding grid lines and a header with date, sex, and age, and labels.</a:t>
            </a:r>
          </a:p>
          <a:p>
            <a:pPr marL="171450" lvl="0" indent="-171450" rtl="0">
              <a:buFont typeface="Arial" panose="020B0604020202020204" pitchFamily="34" charset="0"/>
              <a:buChar char="•"/>
            </a:pPr>
            <a:r>
              <a:rPr lang="en-US" dirty="0"/>
              <a:t>Then it layers on distortions: wrinkles and creases, handwritten notes and noise, rotation, cropping, and color temperature shifts.</a:t>
            </a:r>
          </a:p>
          <a:p>
            <a:pPr marL="171450" lvl="0" indent="-171450" rtl="0">
              <a:buFont typeface="Arial" panose="020B0604020202020204" pitchFamily="34" charset="0"/>
              <a:buChar char="•"/>
            </a:pPr>
            <a:r>
              <a:rPr lang="en-US" dirty="0"/>
              <a:t>It has real limitations though, the wrinkle patterns come from a fixed set of only twenty quilted maps, so they’re not infinitely varied.</a:t>
            </a:r>
          </a:p>
          <a:p>
            <a:pPr marL="171450" lvl="0" indent="-171450" rtl="0">
              <a:buFont typeface="Arial" panose="020B0604020202020204" pitchFamily="34" charset="0"/>
              <a:buChar char="•"/>
            </a:pPr>
            <a:r>
              <a:rPr lang="en-US" dirty="0"/>
              <a:t>Camera perspective is limited too, and there’s no way to simulate actual water damage or blurred ink.</a:t>
            </a:r>
          </a:p>
          <a:p>
            <a:pPr marL="171450" lvl="0" indent="-171450" rtl="0">
              <a:buFont typeface="Arial" panose="020B0604020202020204" pitchFamily="34" charset="0"/>
              <a:buChar char="•"/>
            </a:pPr>
            <a:r>
              <a:rPr lang="en-US" dirty="0"/>
              <a:t>We’re planning to generate our own batches with this tool so we understand exactly what it can and can’t produce.</a:t>
            </a:r>
          </a:p>
        </p:txBody>
      </p:sp>
      <p:sp>
        <p:nvSpPr>
          <p:cNvPr id="4" name="Slide Number Placeholder 3"/>
          <p:cNvSpPr>
            <a:spLocks noGrp="1"/>
          </p:cNvSpPr>
          <p:nvPr>
            <p:ph type="sldNum" sz="quarter" idx="5"/>
          </p:nvPr>
        </p:nvSpPr>
        <p:spPr/>
        <p:txBody>
          <a:bodyPr/>
          <a:lstStyle/>
          <a:p>
            <a:fld id="{139D7141-1882-42A4-98BA-EFEE06EC22FF}" type="slidenum">
              <a:rPr lang="en-US" smtClean="0"/>
              <a:t>6</a:t>
            </a:fld>
            <a:endParaRPr lang="en-US"/>
          </a:p>
        </p:txBody>
      </p:sp>
    </p:spTree>
    <p:extLst>
      <p:ext uri="{BB962C8B-B14F-4D97-AF65-F5344CB8AC3E}">
        <p14:creationId xmlns:p14="http://schemas.microsoft.com/office/powerpoint/2010/main" val="3525123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This dataset has 37,191 images generated from 2,243 unique ECG records.</a:t>
            </a:r>
          </a:p>
          <a:p>
            <a:pPr marL="171450" lvl="0" indent="-171450" rtl="0">
              <a:buFont typeface="Arial" panose="020B0604020202020204" pitchFamily="34" charset="0"/>
              <a:buChar char="•"/>
            </a:pPr>
            <a:r>
              <a:rPr lang="en-US" dirty="0"/>
              <a:t>It actually comes from three different sources, not two like we initially thought: PTB-XL out of Germany with 977 records, Emory Healthcare in the US with 1,000, and Akershus University Hospital in Norway with 266.</a:t>
            </a:r>
          </a:p>
          <a:p>
            <a:pPr marL="171450" lvl="0" indent="-171450" rtl="0">
              <a:buFont typeface="Arial" panose="020B0604020202020204" pitchFamily="34" charset="0"/>
              <a:buChar char="•"/>
            </a:pPr>
            <a:r>
              <a:rPr lang="en-US" dirty="0"/>
              <a:t>PTB-XL and Emory images were rendered digitally through ECG-Image-Kit and then physically printed and distorted by hand.</a:t>
            </a:r>
          </a:p>
          <a:p>
            <a:pPr marL="171450" lvl="0" indent="-171450" rtl="0">
              <a:buFont typeface="Arial" panose="020B0604020202020204" pitchFamily="34" charset="0"/>
              <a:buChar char="•"/>
            </a:pPr>
            <a:r>
              <a:rPr lang="en-US" dirty="0"/>
              <a:t>Those start as synthetic images that get artificially aged, things like real scans, phone photos, monitor photos, staining, heat damage, and even mold.</a:t>
            </a:r>
          </a:p>
          <a:p>
            <a:pPr marL="171450" lvl="0" indent="-171450" rtl="0">
              <a:buFont typeface="Arial" panose="020B0604020202020204" pitchFamily="34" charset="0"/>
              <a:buChar char="•"/>
            </a:pPr>
            <a:r>
              <a:rPr lang="en-US" dirty="0"/>
              <a:t>Akershus is different, those are images of paper scans that were already real to begin with, with archived digital signals paired to them after the fact.</a:t>
            </a:r>
          </a:p>
          <a:p>
            <a:pPr marL="171450" lvl="0" indent="-171450" rtl="0">
              <a:buFont typeface="Arial" panose="020B0604020202020204" pitchFamily="34" charset="0"/>
              <a:buChar char="•"/>
            </a:pPr>
            <a:r>
              <a:rPr lang="en-US" dirty="0"/>
              <a:t>That subset gives us a genuine real versus synthetic comparison point, not just synthetic images with varying degrees of simulated wear.</a:t>
            </a:r>
          </a:p>
          <a:p>
            <a:pPr marL="171450" lvl="0" indent="-171450" rtl="0">
              <a:buFont typeface="Arial" panose="020B0604020202020204" pitchFamily="34" charset="0"/>
              <a:buChar char="•"/>
            </a:pPr>
            <a:r>
              <a:rPr lang="en-US" dirty="0"/>
              <a:t>Every image in the dataset has a corresponding WFDB format digital signal as ground truth.</a:t>
            </a:r>
          </a:p>
          <a:p>
            <a:pPr marL="171450" lvl="0" indent="-171450" rtl="0">
              <a:buFont typeface="Arial" panose="020B0604020202020204" pitchFamily="34" charset="0"/>
              <a:buChar char="•"/>
            </a:pPr>
            <a:r>
              <a:rPr lang="en-US" dirty="0"/>
              <a:t>That’s what makes this usable for direct, quantitative evaluation rather than just visual inspection.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9D7141-1882-42A4-98BA-EFEE06EC22FF}" type="slidenum">
              <a:rPr lang="en-US" smtClean="0"/>
              <a:t>7</a:t>
            </a:fld>
            <a:endParaRPr lang="en-US"/>
          </a:p>
        </p:txBody>
      </p:sp>
    </p:spTree>
    <p:extLst>
      <p:ext uri="{BB962C8B-B14F-4D97-AF65-F5344CB8AC3E}">
        <p14:creationId xmlns:p14="http://schemas.microsoft.com/office/powerpoint/2010/main" val="2225076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There are 28 documented image variants across the different capture methods in this dataset, and we’re planning to use that structure directly.</a:t>
            </a:r>
          </a:p>
          <a:p>
            <a:pPr marL="171450" lvl="0" indent="-171450" rtl="0">
              <a:buFont typeface="Arial" panose="020B0604020202020204" pitchFamily="34" charset="0"/>
              <a:buChar char="•"/>
            </a:pPr>
            <a:r>
              <a:rPr lang="en-US" dirty="0"/>
              <a:t>For PTB-XL and Emory, distortions split into two families: programmatic ones like rotation, geometric transforms, wrinkles, creases, grid color changes, and handwritten text, and physical ones like real scans, phone photos, monitor photos, staining, and heat damage.</a:t>
            </a:r>
          </a:p>
          <a:p>
            <a:pPr marL="171450" lvl="0" indent="-171450" rtl="0">
              <a:buFont typeface="Arial" panose="020B0604020202020204" pitchFamily="34" charset="0"/>
              <a:buChar char="•"/>
            </a:pPr>
            <a:r>
              <a:rPr lang="en-US" dirty="0"/>
              <a:t>Akershus is different again, its only distortions are natural wear from routine clinical handling, things like bending and occasional handwritten annotations.</a:t>
            </a:r>
          </a:p>
          <a:p>
            <a:pPr marL="171450" lvl="0" indent="-171450" rtl="0">
              <a:buFont typeface="Arial" panose="020B0604020202020204" pitchFamily="34" charset="0"/>
              <a:buChar char="•"/>
            </a:pPr>
            <a:r>
              <a:rPr lang="en-US" dirty="0"/>
              <a:t>Those images were captured with a flatbed scanner, an iPhone 16 Pro Max, and a OnePlus Nord CE2.</a:t>
            </a:r>
          </a:p>
          <a:p>
            <a:pPr marL="171450" lvl="0" indent="-171450" rtl="0">
              <a:buFont typeface="Arial" panose="020B0604020202020204" pitchFamily="34" charset="0"/>
              <a:buChar char="•"/>
            </a:pPr>
            <a:r>
              <a:rPr lang="en-US" dirty="0"/>
              <a:t>Our plan is to score SNR separately for each category instead of only looking at one aggregate number.</a:t>
            </a:r>
          </a:p>
          <a:p>
            <a:pPr marL="171450" lvl="0" indent="-171450" rtl="0">
              <a:buFont typeface="Arial" panose="020B0604020202020204" pitchFamily="34" charset="0"/>
              <a:buChar char="•"/>
            </a:pPr>
            <a:r>
              <a:rPr lang="en-US" dirty="0"/>
              <a:t>That lets us directly test whether our model handles synthetic plus physical distortions differently than it handles true clinical handling distortions from Akershus.</a:t>
            </a:r>
          </a:p>
          <a:p>
            <a:pPr marL="171450" lvl="0" indent="-171450" rtl="0">
              <a:buFont typeface="Arial" panose="020B0604020202020204" pitchFamily="34" charset="0"/>
              <a:buChar char="•"/>
            </a:pPr>
            <a:r>
              <a:rPr lang="en-US" dirty="0"/>
              <a:t>More generally, it lets us find where each type of model actually tends to fail.</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9D7141-1882-42A4-98BA-EFEE06EC22FF}" type="slidenum">
              <a:rPr lang="en-US" smtClean="0"/>
              <a:t>8</a:t>
            </a:fld>
            <a:endParaRPr lang="en-US"/>
          </a:p>
        </p:txBody>
      </p:sp>
    </p:spTree>
    <p:extLst>
      <p:ext uri="{BB962C8B-B14F-4D97-AF65-F5344CB8AC3E}">
        <p14:creationId xmlns:p14="http://schemas.microsoft.com/office/powerpoint/2010/main" val="126895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PTB-XL comes with diagnostic superclasses built in: normal, myocardial infarction, ST or T wave change, conduction disturbance, and hypertrophy.</a:t>
            </a:r>
          </a:p>
          <a:p>
            <a:pPr marL="171450" lvl="0" indent="-171450" rtl="0">
              <a:buFont typeface="Arial" panose="020B0604020202020204" pitchFamily="34" charset="0"/>
              <a:buChar char="•"/>
            </a:pPr>
            <a:r>
              <a:rPr lang="en-US" dirty="0"/>
              <a:t>We already have a clean axis to break results down by diagnosis for that subset.</a:t>
            </a:r>
          </a:p>
          <a:p>
            <a:pPr marL="171450" lvl="0" indent="-171450" rtl="0">
              <a:buFont typeface="Arial" panose="020B0604020202020204" pitchFamily="34" charset="0"/>
              <a:buChar char="•"/>
            </a:pPr>
            <a:r>
              <a:rPr lang="en-US" dirty="0"/>
              <a:t>We haven’t confirmed yet whether Emory or Akershus have the same kind of diagnostic labeling available.</a:t>
            </a:r>
          </a:p>
          <a:p>
            <a:pPr marL="171450" lvl="0" indent="-171450" rtl="0">
              <a:buFont typeface="Arial" panose="020B0604020202020204" pitchFamily="34" charset="0"/>
              <a:buChar char="•"/>
            </a:pPr>
            <a:r>
              <a:rPr lang="en-US" dirty="0"/>
              <a:t>That’s something we need to check once we actually have access to the data itself, not just the documentation.</a:t>
            </a:r>
          </a:p>
          <a:p>
            <a:pPr marL="171450" lvl="0" indent="-171450" rtl="0">
              <a:buFont typeface="Arial" panose="020B0604020202020204" pitchFamily="34" charset="0"/>
              <a:buChar char="•"/>
            </a:pPr>
            <a:r>
              <a:rPr lang="en-US" dirty="0"/>
              <a:t>The plan is the same as the distortion breakdown, compute SNR separately per diagnostic class rather than only in aggregate.</a:t>
            </a:r>
          </a:p>
          <a:p>
            <a:pPr marL="171450" lvl="0" indent="-171450" rtl="0">
              <a:buFont typeface="Arial" panose="020B0604020202020204" pitchFamily="34" charset="0"/>
              <a:buChar char="•"/>
            </a:pPr>
            <a:r>
              <a:rPr lang="en-US" dirty="0"/>
              <a:t>The real risk here is clinical, not just statistical.</a:t>
            </a:r>
          </a:p>
          <a:p>
            <a:pPr marL="171450" lvl="0" indent="-171450" rtl="0">
              <a:buFont typeface="Arial" panose="020B0604020202020204" pitchFamily="34" charset="0"/>
              <a:buChar char="•"/>
            </a:pPr>
            <a:r>
              <a:rPr lang="en-US" dirty="0"/>
              <a:t>A model that’s accurate on normal rhythm but quietly degrades on abnormal morphology is a much worse tool than its overall SNR would suggest.</a:t>
            </a:r>
          </a:p>
          <a:p>
            <a:pPr marL="171450" lvl="0" indent="-171450" rtl="0">
              <a:buFont typeface="Arial" panose="020B0604020202020204" pitchFamily="34" charset="0"/>
              <a:buChar char="•"/>
            </a:pPr>
            <a:r>
              <a:rPr lang="en-US" dirty="0"/>
              <a:t>Those abnormal cases are exactly the ones where getting the digitization right actually matters.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9D7141-1882-42A4-98BA-EFEE06EC22FF}" type="slidenum">
              <a:rPr lang="en-US" smtClean="0"/>
              <a:t>9</a:t>
            </a:fld>
            <a:endParaRPr lang="en-US"/>
          </a:p>
        </p:txBody>
      </p:sp>
    </p:spTree>
    <p:extLst>
      <p:ext uri="{BB962C8B-B14F-4D97-AF65-F5344CB8AC3E}">
        <p14:creationId xmlns:p14="http://schemas.microsoft.com/office/powerpoint/2010/main" val="1529248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rtl="0">
              <a:buFont typeface="Arial" panose="020B0604020202020204" pitchFamily="34" charset="0"/>
              <a:buChar char="•"/>
            </a:pPr>
            <a:r>
              <a:rPr lang="en-US" dirty="0"/>
              <a:t>Our immediate priority is finishing the baseline replication so we have an initial step to work off of. </a:t>
            </a:r>
          </a:p>
          <a:p>
            <a:pPr marL="171450" lvl="0" indent="-171450" rtl="0">
              <a:buFont typeface="Arial" panose="020B0604020202020204" pitchFamily="34" charset="0"/>
              <a:buChar char="•"/>
            </a:pPr>
            <a:r>
              <a:rPr lang="en-US" dirty="0"/>
              <a:t>In parallel, we want to test ECG-Image-Kit ourselves to build some of our own custom data, rather than relying only on existing datasets.</a:t>
            </a:r>
          </a:p>
          <a:p>
            <a:pPr marL="171450" lvl="0" indent="-171450" rtl="0">
              <a:buFont typeface="Arial" panose="020B0604020202020204" pitchFamily="34" charset="0"/>
              <a:buChar char="•"/>
            </a:pPr>
            <a:r>
              <a:rPr lang="en-US" dirty="0"/>
              <a:t>Once we get cluster access, the plan is to run the full subgroup breakdown, distortion type crossed with diagnostic class, on the real PhysioNet dataset.</a:t>
            </a:r>
          </a:p>
          <a:p>
            <a:pPr marL="171450" lvl="0" indent="-171450" rtl="0">
              <a:buFont typeface="Arial" panose="020B0604020202020204" pitchFamily="34" charset="0"/>
              <a:buChar char="•"/>
            </a:pPr>
            <a:r>
              <a:rPr lang="en-US" dirty="0"/>
              <a:t>We also want to replicate and test SignalSavants and WAVIE’s own public code against those same subgroup splits.</a:t>
            </a:r>
          </a:p>
          <a:p>
            <a:pPr marL="171450" lvl="0" indent="-171450" rtl="0">
              <a:buFont typeface="Arial" panose="020B0604020202020204" pitchFamily="34" charset="0"/>
              <a:buChar char="•"/>
            </a:pPr>
            <a:r>
              <a:rPr lang="en-US" dirty="0"/>
              <a:t>That lets us see whether their reported strengths and failure modes actually hold up under a more granular, controlled breakdown, rather than just taking their aggregate numbers at face value.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9D7141-1882-42A4-98BA-EFEE06EC22FF}" type="slidenum">
              <a:rPr lang="en-US" smtClean="0"/>
              <a:t>10</a:t>
            </a:fld>
            <a:endParaRPr lang="en-US"/>
          </a:p>
        </p:txBody>
      </p:sp>
    </p:spTree>
    <p:extLst>
      <p:ext uri="{BB962C8B-B14F-4D97-AF65-F5344CB8AC3E}">
        <p14:creationId xmlns:p14="http://schemas.microsoft.com/office/powerpoint/2010/main" val="1558869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baseline, we're replicating the image-processing and digitization pipeline developed by Baydoun and colleagues in 2019.</a:t>
            </a:r>
          </a:p>
          <a:p>
            <a:r>
              <a:rPr lang="en-US"/>
              <a:t>The first step is identifying the regions of interest, or ROIs. Rather than trying to extract every waveform from the entire ECG image at once, the algorithm first identifies the separate signal regions. It moves a small mask across the image and measures variation in pixel intensity. Areas containing both the dark ECG trace and the lighter background have a relatively high standard deviation. The resulting variation profile is then searched for peaks, which are used to estimate the centers of the individual ECG regions and construct bounding boxes around them.” </a:t>
            </a:r>
            <a:endParaRPr lang="en-US">
              <a:ea typeface="Calibri"/>
              <a:cs typeface="Calibri"/>
            </a:endParaRPr>
          </a:p>
          <a:p>
            <a:r>
              <a:rPr lang="en-US"/>
              <a:t>“This is important because once those regions are separated, the actual waveform-extraction procedure can be applied independently to each lead region rather than trying to interpret the entire multi-lead image simultaneously.”</a:t>
            </a:r>
            <a:endParaRPr lang="en-US">
              <a:ea typeface="Calibri"/>
              <a:cs typeface="Calibri"/>
            </a:endParaRPr>
          </a:p>
          <a:p>
            <a:r>
              <a:rPr lang="en-US"/>
              <a:t>“Next, each region is cropped and its colors are inverted. Otsu's automatic thresholding technique is then applied to separate the foreground from the background and produce a binary image. In the original implementation, the authors multiplied the automatically calculated Otsu threshold by 1.2 based on empirical testing.” </a:t>
            </a:r>
            <a:endParaRPr lang="en-US">
              <a:ea typeface="Calibri"/>
              <a:cs typeface="Calibri"/>
            </a:endParaRPr>
          </a:p>
          <a:p>
            <a:r>
              <a:rPr lang="en-US"/>
              <a:t>“Once the image is binary, connected-pixel algorithms are used to identify and label the different objects within the image. Small connected components are assumed to be noise and removed, which leaves the larger structures that are more likely to represent the actual ECG trace.” </a:t>
            </a:r>
            <a:endParaRPr lang="en-US">
              <a:ea typeface="Calibri"/>
              <a:cs typeface="Calibri"/>
            </a:endParaRPr>
          </a:p>
          <a:p>
            <a:r>
              <a:rPr lang="en-US"/>
              <a:t>“The next stage is the main waveform-reconstruction step. Because portions of an ECG waveform run approximately horizontally, the algorithm uses the Hough Transform to identify nearly horizontal lines. The median position of those detected lines is used to estimate the centerline of the ECG signal.” </a:t>
            </a:r>
            <a:endParaRPr lang="en-US">
              <a:ea typeface="Calibri"/>
              <a:cs typeface="Calibri"/>
            </a:endParaRPr>
          </a:p>
          <a:p>
            <a:r>
              <a:rPr lang="en-US"/>
              <a:t>“The algorithm then tries to construct a path from the left side of the image to the right side, selecting approximately one signal point per column. It begins with pixels near the estimated centerline and then iteratively adds connected adjacent pixels. This allows it to follow the waveform even when the ECG moves above or below that original centerline.” </a:t>
            </a:r>
            <a:endParaRPr lang="en-US">
              <a:ea typeface="Calibri"/>
              <a:cs typeface="Calibri"/>
            </a:endParaRPr>
          </a:p>
          <a:p>
            <a:r>
              <a:rPr lang="en-US"/>
              <a:t>“Finally, if some columns still don't contain a detected point, linear interpolation is used to estimate those missing values. The resulting digitized signal is then smoothed using averaging over a small span, while very large values are excluded from the averaging step so that important ECG peaks are preserved.” </a:t>
            </a:r>
            <a:endParaRPr lang="en-US">
              <a:ea typeface="Calibri"/>
              <a:cs typeface="Calibri"/>
            </a:endParaRPr>
          </a:p>
          <a:p>
            <a:r>
              <a:rPr lang="en-US"/>
              <a:t>“So at the end of the pipeline, the goal is to go from an ECG that exists only as pixels in an image to an actual numerical waveform that can be analyzed computationally.”</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139D7141-1882-42A4-98BA-EFEE06EC22FF}" type="slidenum">
              <a:t>13</a:t>
            </a:fld>
            <a:endParaRPr lang="en-US"/>
          </a:p>
        </p:txBody>
      </p:sp>
    </p:spTree>
    <p:extLst>
      <p:ext uri="{BB962C8B-B14F-4D97-AF65-F5344CB8AC3E}">
        <p14:creationId xmlns:p14="http://schemas.microsoft.com/office/powerpoint/2010/main" val="363970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next method comes from the team that actually won the PhysioNet Challenge in 2024, SignalSavants out of Oxford, with an SNR of 12.15, first place out of sixteen teams. The thing that stands out about their approach is that it's not one single end-to-end deep learning model. Instead they broke the problem into three separate stages, rotate, segment, and then vectorize.</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first stage handles rotation using a classical computer vision technique called the Hough Transform, which detects straight lines in the image and figures out how much the whole thing is tilted, then corrects it. That detection step alone is 99.7 percent accurate, which is a strong result, though it's worth noting that getting the rotation right doesn't automatically mean the rest of the signal extraction will be accurate too.</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Once the image is straightened, the second stage uses a model called nnU-Net to do segmentation. This produces a per-pixel mask that tells you which pixels in the image actually belong to a given signal trace, essentially separating the ECG line from the background and the grid.</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third stage is vectorization, where they take that mask and, for every column of the image, average the pixel positions to get one y value, then rescale those pixel coordinates into real time and voltage using the grid calibration printed on the paper. For training, they generated their own images from PTB-XL using a tool called ECG-Image-Kit, with at least four augmented variants per signal. One thing worth pointing out here is that their winning model actually used a smaller dataset, only twenty thousand images, and simpler masks. When they tried scaling up to larger and more complex models, performance actually got worse, which tells us overfitting is a real risk in this setup.</a:t>
            </a:r>
          </a:p>
          <a:p>
            <a:endParaRPr lang="en-US"/>
          </a:p>
        </p:txBody>
      </p:sp>
      <p:sp>
        <p:nvSpPr>
          <p:cNvPr id="4" name="Slide Number Placeholder 3"/>
          <p:cNvSpPr>
            <a:spLocks noGrp="1"/>
          </p:cNvSpPr>
          <p:nvPr>
            <p:ph type="sldNum" sz="quarter" idx="5"/>
          </p:nvPr>
        </p:nvSpPr>
        <p:spPr/>
        <p:txBody>
          <a:bodyPr/>
          <a:lstStyle/>
          <a:p>
            <a:fld id="{139D7141-1882-42A4-98BA-EFEE06EC22FF}" type="slidenum">
              <a:rPr lang="en-US" smtClean="0"/>
              <a:t>14</a:t>
            </a:fld>
            <a:endParaRPr lang="en-US"/>
          </a:p>
        </p:txBody>
      </p:sp>
    </p:spTree>
    <p:extLst>
      <p:ext uri="{BB962C8B-B14F-4D97-AF65-F5344CB8AC3E}">
        <p14:creationId xmlns:p14="http://schemas.microsoft.com/office/powerpoint/2010/main" val="829895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next method we looked at is WAVIE, out of the University of Auckland, which placed third overall with an SNR of 5.469. Where SignalSavants used three stages, WAVIE splits the problem into four, rotation correction, signal segmentation, lead localization, and signal digitization, with each one trained as its own separate model.</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Rotation correction here is learned rather than classical. They train a model to predict a rotation angle theta directly, and during training that angle is sampled from a normal distribution centered at zero with a standard deviation around 25 degrees, which emphasizes realistic small rotations rather than extreme ones. Once predicted, the inverse angle is applied to straighten the image.</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Segmentation uses 2D nnU-Net, which is conceptually similar to what SignalSavants did. The part that's genuinely different is lead localization. They run a model called YOLOv5s to detect bounding boxes around each of the twelve individual leads plus the rhythm strip, so thirteen boxes in total. This means they're explicitly handling the full multi-lead layout of a standard ECG printout, rather than assuming there's just one fixed trace to extract.</a:t>
            </a:r>
          </a:p>
          <a:p>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From there, digitization crops the image using those YOLO boxes, extracts contours, takes a column-wise median to get one y position per x position, and converts those pixel coordinates into real time and voltage values, with a sliding window step to correct for baseline drift. Their training data also comes from PTB-XL through ECG-Image-Kit, but they pushed harder on testing generalization, using five generation configurations for training and ten for the held-out set, six of which were completely unseen during training.</a:t>
            </a:r>
          </a:p>
        </p:txBody>
      </p:sp>
      <p:sp>
        <p:nvSpPr>
          <p:cNvPr id="4" name="Slide Number Placeholder 3"/>
          <p:cNvSpPr>
            <a:spLocks noGrp="1"/>
          </p:cNvSpPr>
          <p:nvPr>
            <p:ph type="sldNum" sz="quarter" idx="5"/>
          </p:nvPr>
        </p:nvSpPr>
        <p:spPr/>
        <p:txBody>
          <a:bodyPr/>
          <a:lstStyle/>
          <a:p>
            <a:fld id="{139D7141-1882-42A4-98BA-EFEE06EC22FF}" type="slidenum">
              <a:rPr lang="en-US" smtClean="0"/>
              <a:t>15</a:t>
            </a:fld>
            <a:endParaRPr lang="en-US"/>
          </a:p>
        </p:txBody>
      </p:sp>
    </p:spTree>
    <p:extLst>
      <p:ext uri="{BB962C8B-B14F-4D97-AF65-F5344CB8AC3E}">
        <p14:creationId xmlns:p14="http://schemas.microsoft.com/office/powerpoint/2010/main" val="2369352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1989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695895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57397718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FA43F5B-065E-43CE-B3FD-98C48A6F94D7}" type="datetimeFigureOut">
              <a:rPr lang="en-US" smtClean="0"/>
              <a:pPr/>
              <a:t>10/29/26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84629350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FA43F5B-065E-43CE-B3FD-98C48A6F94D7}" type="datetimeFigureOut">
              <a:rPr lang="en-US" smtClean="0"/>
              <a:pPr/>
              <a:t>10/29/26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74869061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7FA43F5B-065E-43CE-B3FD-98C48A6F94D7}" type="datetimeFigureOut">
              <a:rPr lang="en-US" smtClean="0"/>
              <a:pPr/>
              <a:t>10/29/26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321881118"/>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43F5B-065E-43CE-B3FD-98C48A6F94D7}" type="datetimeFigureOut">
              <a:rPr lang="en-US" smtClean="0"/>
              <a:pPr/>
              <a:t>10/29/26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4686373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A43F5B-065E-43CE-B3FD-98C48A6F94D7}" type="datetimeFigureOut">
              <a:rPr lang="en-US" smtClean="0"/>
              <a:pPr/>
              <a:t>10/29/26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60183248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a:p>
        </p:txBody>
      </p:sp>
      <p:sp>
        <p:nvSpPr>
          <p:cNvPr id="5" name="Date Placeholder 4"/>
          <p:cNvSpPr>
            <a:spLocks noGrp="1"/>
          </p:cNvSpPr>
          <p:nvPr>
            <p:ph type="dt" sz="half" idx="10"/>
          </p:nvPr>
        </p:nvSpPr>
        <p:spPr/>
        <p:txBody>
          <a:bodyPr/>
          <a:lstStyle/>
          <a:p>
            <a:fld id="{7FA43F5B-065E-43CE-B3FD-98C48A6F94D7}" type="datetimeFigureOut">
              <a:rPr lang="en-US" smtClean="0"/>
              <a:pPr/>
              <a:t>10/29/26</a:t>
            </a:fld>
            <a:endParaRPr lang="en-US"/>
          </a:p>
        </p:txBody>
      </p:sp>
    </p:spTree>
    <p:extLst>
      <p:ext uri="{BB962C8B-B14F-4D97-AF65-F5344CB8AC3E}">
        <p14:creationId xmlns:p14="http://schemas.microsoft.com/office/powerpoint/2010/main" val="145668238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31054935"/>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4559677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14042762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9541685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90758921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5292407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A43F5B-065E-43CE-B3FD-98C48A6F94D7}" type="datetimeFigureOut">
              <a:rPr lang="en-US" smtClean="0"/>
              <a:pPr/>
              <a:t>10/29/26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70710503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A43F5B-065E-43CE-B3FD-98C48A6F94D7}" type="datetimeFigureOut">
              <a:rPr lang="en-US" smtClean="0"/>
              <a:pPr/>
              <a:t>10/29/26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52664306"/>
      </p:ext>
    </p:extLst>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 id="2147484164" r:id="rId12"/>
    <p:sldLayoutId id="2147484165" r:id="rId13"/>
    <p:sldLayoutId id="2147484166" r:id="rId14"/>
    <p:sldLayoutId id="2147484167" r:id="rId15"/>
    <p:sldLayoutId id="2147484168"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C94D8-E1F4-3EA4-BA75-39B19A84F180}"/>
              </a:ext>
            </a:extLst>
          </p:cNvPr>
          <p:cNvSpPr>
            <a:spLocks noGrp="1"/>
          </p:cNvSpPr>
          <p:nvPr>
            <p:ph type="ctrTitle"/>
          </p:nvPr>
        </p:nvSpPr>
        <p:spPr>
          <a:xfrm>
            <a:off x="1680687" y="1999420"/>
            <a:ext cx="7766936" cy="1646302"/>
          </a:xfrm>
        </p:spPr>
        <p:txBody>
          <a:bodyPr/>
          <a:lstStyle/>
          <a:p>
            <a:r>
              <a:rPr lang="en-US"/>
              <a:t>ECG Image Digitization</a:t>
            </a:r>
          </a:p>
        </p:txBody>
      </p:sp>
      <p:sp>
        <p:nvSpPr>
          <p:cNvPr id="3" name="Subtitle 2">
            <a:extLst>
              <a:ext uri="{FF2B5EF4-FFF2-40B4-BE49-F238E27FC236}">
                <a16:creationId xmlns:a16="http://schemas.microsoft.com/office/drawing/2014/main" id="{A200FCCE-0B86-9AAC-E034-8C1C267CABFD}"/>
              </a:ext>
            </a:extLst>
          </p:cNvPr>
          <p:cNvSpPr>
            <a:spLocks noGrp="1"/>
          </p:cNvSpPr>
          <p:nvPr>
            <p:ph type="subTitle" idx="1"/>
          </p:nvPr>
        </p:nvSpPr>
        <p:spPr>
          <a:xfrm>
            <a:off x="1680687" y="3645719"/>
            <a:ext cx="7766936" cy="1096899"/>
          </a:xfrm>
        </p:spPr>
        <p:txBody>
          <a:bodyPr/>
          <a:lstStyle/>
          <a:p>
            <a:r>
              <a:rPr lang="en-US" dirty="0"/>
              <a:t>Group 2/B: Bohan Chen, Ansh Goyal, Mateo Gurria, Suruthikha Vijay</a:t>
            </a:r>
          </a:p>
        </p:txBody>
      </p:sp>
      <p:sp>
        <p:nvSpPr>
          <p:cNvPr id="4" name="Date Placeholder 3">
            <a:extLst>
              <a:ext uri="{FF2B5EF4-FFF2-40B4-BE49-F238E27FC236}">
                <a16:creationId xmlns:a16="http://schemas.microsoft.com/office/drawing/2014/main" id="{7BAB1A31-533D-5728-7366-F15069975DAC}"/>
              </a:ext>
            </a:extLst>
          </p:cNvPr>
          <p:cNvSpPr>
            <a:spLocks noGrp="1"/>
          </p:cNvSpPr>
          <p:nvPr>
            <p:ph type="dt" sz="half" idx="10"/>
          </p:nvPr>
        </p:nvSpPr>
        <p:spPr/>
        <p:txBody>
          <a:bodyPr/>
          <a:lstStyle/>
          <a:p>
            <a:fld id="{24793381-A18D-D14F-9AC4-24F27E3B9470}" type="datetime1">
              <a:rPr lang="en-US" smtClean="0"/>
              <a:t>10/29/26</a:t>
            </a:fld>
            <a:endParaRPr lang="en-US"/>
          </a:p>
        </p:txBody>
      </p:sp>
      <p:sp>
        <p:nvSpPr>
          <p:cNvPr id="5" name="Footer Placeholder 4">
            <a:extLst>
              <a:ext uri="{FF2B5EF4-FFF2-40B4-BE49-F238E27FC236}">
                <a16:creationId xmlns:a16="http://schemas.microsoft.com/office/drawing/2014/main" id="{2D5FBC2A-9B9D-DDA4-DA89-4C01FB5BD731}"/>
              </a:ext>
            </a:extLst>
          </p:cNvPr>
          <p:cNvSpPr>
            <a:spLocks noGrp="1"/>
          </p:cNvSpPr>
          <p:nvPr>
            <p:ph type="ftr" sz="quarter" idx="11"/>
          </p:nvPr>
        </p:nvSpPr>
        <p:spPr/>
        <p:txBody>
          <a:bodyPr/>
          <a:lstStyle/>
          <a:p>
            <a:r>
              <a:rPr lang="en-US"/>
              <a:t>Presentation #3</a:t>
            </a:r>
          </a:p>
        </p:txBody>
      </p:sp>
      <p:sp>
        <p:nvSpPr>
          <p:cNvPr id="6" name="Slide Number Placeholder 5">
            <a:extLst>
              <a:ext uri="{FF2B5EF4-FFF2-40B4-BE49-F238E27FC236}">
                <a16:creationId xmlns:a16="http://schemas.microsoft.com/office/drawing/2014/main" id="{80A6E9CD-2D88-7339-5028-61D4CAB41919}"/>
              </a:ext>
            </a:extLst>
          </p:cNvPr>
          <p:cNvSpPr>
            <a:spLocks noGrp="1"/>
          </p:cNvSpPr>
          <p:nvPr>
            <p:ph type="sldNum" sz="quarter" idx="12"/>
          </p:nvPr>
        </p:nvSpPr>
        <p:spPr/>
        <p:txBody>
          <a:bodyPr/>
          <a:lstStyle/>
          <a:p>
            <a:fld id="{D57F1E4F-1CFF-5643-939E-217C01CDF565}" type="slidenum">
              <a:rPr lang="en-US" smtClean="0"/>
              <a:pPr/>
              <a:t>1</a:t>
            </a:fld>
            <a:endParaRPr lang="en-US"/>
          </a:p>
        </p:txBody>
      </p:sp>
    </p:spTree>
    <p:extLst>
      <p:ext uri="{BB962C8B-B14F-4D97-AF65-F5344CB8AC3E}">
        <p14:creationId xmlns:p14="http://schemas.microsoft.com/office/powerpoint/2010/main" val="1553595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5C29D-9611-1DE0-D96D-7CCC6B2D4FF6}"/>
              </a:ext>
            </a:extLst>
          </p:cNvPr>
          <p:cNvSpPr>
            <a:spLocks noGrp="1"/>
          </p:cNvSpPr>
          <p:nvPr>
            <p:ph type="title"/>
          </p:nvPr>
        </p:nvSpPr>
        <p:spPr/>
        <p:txBody>
          <a:bodyPr/>
          <a:lstStyle/>
          <a:p>
            <a:r>
              <a:rPr lang="en-US"/>
              <a:t>Background</a:t>
            </a:r>
          </a:p>
        </p:txBody>
      </p:sp>
      <p:sp>
        <p:nvSpPr>
          <p:cNvPr id="5" name="Content Placeholder 4">
            <a:extLst>
              <a:ext uri="{FF2B5EF4-FFF2-40B4-BE49-F238E27FC236}">
                <a16:creationId xmlns:a16="http://schemas.microsoft.com/office/drawing/2014/main" id="{9B413331-02A1-E5A4-227D-301E4169E68B}"/>
              </a:ext>
            </a:extLst>
          </p:cNvPr>
          <p:cNvSpPr>
            <a:spLocks noGrp="1"/>
          </p:cNvSpPr>
          <p:nvPr>
            <p:ph idx="1"/>
          </p:nvPr>
        </p:nvSpPr>
        <p:spPr>
          <a:xfrm>
            <a:off x="677334" y="1474763"/>
            <a:ext cx="6757624" cy="4773637"/>
          </a:xfrm>
        </p:spPr>
        <p:txBody>
          <a:bodyPr vert="horz" lIns="91440" tIns="45720" rIns="91440" bIns="45720" rtlCol="0" anchor="t">
            <a:noAutofit/>
          </a:bodyPr>
          <a:lstStyle/>
          <a:p>
            <a:r>
              <a:rPr lang="en-US" dirty="0"/>
              <a:t>ECGs are often printed on ECG thermal paper</a:t>
            </a:r>
          </a:p>
          <a:p>
            <a:pPr lvl="1">
              <a:buFont typeface="Courier New" charset="2"/>
              <a:buChar char="o"/>
            </a:pPr>
            <a:r>
              <a:rPr lang="en-US" dirty="0"/>
              <a:t>Reliable, Standardized, Widely Used</a:t>
            </a:r>
          </a:p>
          <a:p>
            <a:r>
              <a:rPr lang="en-US" dirty="0"/>
              <a:t>Increased need for digitalization</a:t>
            </a:r>
          </a:p>
          <a:p>
            <a:pPr lvl="1">
              <a:buFont typeface="Courier New" charset="2"/>
              <a:buChar char="o"/>
            </a:pPr>
            <a:r>
              <a:rPr lang="en-US" dirty="0"/>
              <a:t>Digital/Electronic health records &amp; storage</a:t>
            </a:r>
          </a:p>
          <a:p>
            <a:pPr lvl="1">
              <a:buFont typeface="Courier New" charset="2"/>
              <a:buChar char="o"/>
            </a:pPr>
            <a:r>
              <a:rPr lang="en-US" dirty="0"/>
              <a:t>Potential support for AI/ML analysis </a:t>
            </a:r>
          </a:p>
          <a:p>
            <a:pPr lvl="0"/>
            <a:r>
              <a:rPr lang="en-US" b="1" dirty="0"/>
              <a:t>Task: </a:t>
            </a:r>
            <a:r>
              <a:rPr lang="en-US" dirty="0"/>
              <a:t>Reconstruct a true 12-lead ECG signal from an image of a paper/scanned/photographed ECG</a:t>
            </a:r>
          </a:p>
          <a:p>
            <a:pPr lvl="1"/>
            <a:r>
              <a:rPr lang="en-US" b="1" dirty="0"/>
              <a:t>Baseline: </a:t>
            </a:r>
            <a:r>
              <a:rPr lang="en-US" dirty="0"/>
              <a:t>Replicating the image-processing pipeline from Baydoun et al. (2019)</a:t>
            </a:r>
          </a:p>
          <a:p>
            <a:pPr lvl="1"/>
            <a:r>
              <a:rPr lang="en-US" b="1" dirty="0"/>
              <a:t>Benchmarks</a:t>
            </a:r>
            <a:r>
              <a:rPr lang="en-US" dirty="0"/>
              <a:t>: SignalSavants (1st place, SNR 12.15) and WAVIE (3rd place, SNR 5.469)</a:t>
            </a:r>
          </a:p>
          <a:p>
            <a:pPr lvl="0"/>
            <a:r>
              <a:rPr lang="en-US" b="1" dirty="0"/>
              <a:t>Today: </a:t>
            </a:r>
            <a:r>
              <a:rPr lang="en-US" dirty="0"/>
              <a:t>Formalizing our evaluation metric, digging into a real distortion dataset, and laying out a subgroup analysis plan</a:t>
            </a:r>
          </a:p>
          <a:p>
            <a:pPr>
              <a:buFont typeface="Courier New" charset="2"/>
              <a:buChar char="o"/>
            </a:pPr>
            <a:endParaRPr lang="en-US" dirty="0"/>
          </a:p>
        </p:txBody>
      </p:sp>
      <p:pic>
        <p:nvPicPr>
          <p:cNvPr id="3" name="Picture 2" descr="2,900+ Ecg Printout Stock Photos and Royalty-Free Pictures - iStock">
            <a:extLst>
              <a:ext uri="{FF2B5EF4-FFF2-40B4-BE49-F238E27FC236}">
                <a16:creationId xmlns:a16="http://schemas.microsoft.com/office/drawing/2014/main" id="{3C88DAED-598F-121F-4731-A72EF85EA85D}"/>
              </a:ext>
            </a:extLst>
          </p:cNvPr>
          <p:cNvPicPr>
            <a:picLocks noChangeAspect="1"/>
          </p:cNvPicPr>
          <p:nvPr/>
        </p:nvPicPr>
        <p:blipFill>
          <a:blip r:embed="rId3"/>
          <a:stretch>
            <a:fillRect/>
          </a:stretch>
        </p:blipFill>
        <p:spPr>
          <a:xfrm>
            <a:off x="7434958" y="2124221"/>
            <a:ext cx="4594860" cy="3108960"/>
          </a:xfrm>
          <a:prstGeom prst="rect">
            <a:avLst/>
          </a:prstGeom>
        </p:spPr>
      </p:pic>
    </p:spTree>
    <p:extLst>
      <p:ext uri="{BB962C8B-B14F-4D97-AF65-F5344CB8AC3E}">
        <p14:creationId xmlns:p14="http://schemas.microsoft.com/office/powerpoint/2010/main" val="285587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BE4C7-4AB7-E5F8-2F5E-F57F8E570883}"/>
              </a:ext>
            </a:extLst>
          </p:cNvPr>
          <p:cNvSpPr>
            <a:spLocks noGrp="1"/>
          </p:cNvSpPr>
          <p:nvPr>
            <p:ph type="title"/>
          </p:nvPr>
        </p:nvSpPr>
        <p:spPr>
          <a:xfrm>
            <a:off x="677334" y="268224"/>
            <a:ext cx="8596668" cy="707136"/>
          </a:xfrm>
        </p:spPr>
        <p:txBody>
          <a:bodyPr>
            <a:normAutofit/>
          </a:bodyPr>
          <a:lstStyle/>
          <a:p>
            <a:r>
              <a:rPr lang="en-US" dirty="0"/>
              <a:t>Comparison of Approaches</a:t>
            </a:r>
          </a:p>
        </p:txBody>
      </p:sp>
      <p:sp>
        <p:nvSpPr>
          <p:cNvPr id="5" name="Footer Placeholder 4">
            <a:extLst>
              <a:ext uri="{FF2B5EF4-FFF2-40B4-BE49-F238E27FC236}">
                <a16:creationId xmlns:a16="http://schemas.microsoft.com/office/drawing/2014/main" id="{22558E11-0831-7476-AA9F-698FE9C034D4}"/>
              </a:ext>
            </a:extLst>
          </p:cNvPr>
          <p:cNvSpPr>
            <a:spLocks noGrp="1"/>
          </p:cNvSpPr>
          <p:nvPr>
            <p:ph type="ftr" sz="quarter" idx="11"/>
          </p:nvPr>
        </p:nvSpPr>
        <p:spPr/>
        <p:txBody>
          <a:bodyPr/>
          <a:lstStyle/>
          <a:p>
            <a:r>
              <a:rPr lang="en-US" dirty="0"/>
              <a:t>
              </a:t>
            </a:r>
          </a:p>
        </p:txBody>
      </p:sp>
      <p:sp>
        <p:nvSpPr>
          <p:cNvPr id="7" name="Rounded Rectangle 6">
            <a:extLst>
              <a:ext uri="{FF2B5EF4-FFF2-40B4-BE49-F238E27FC236}">
                <a16:creationId xmlns:a16="http://schemas.microsoft.com/office/drawing/2014/main" id="{C2429C0A-0ACD-2F79-7D00-6E72650A1B7F}"/>
              </a:ext>
            </a:extLst>
          </p:cNvPr>
          <p:cNvSpPr/>
          <p:nvPr/>
        </p:nvSpPr>
        <p:spPr>
          <a:xfrm>
            <a:off x="292608" y="1438656"/>
            <a:ext cx="3547872" cy="460270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ctr"/>
          <a:lstStyle/>
          <a:p>
            <a:pPr algn="ctr">
              <a:lnSpc>
                <a:spcPct val="150000"/>
              </a:lnSpc>
            </a:pPr>
            <a:r>
              <a:rPr lang="en-US" dirty="0">
                <a:solidFill>
                  <a:schemeClr val="accent1"/>
                </a:solidFill>
                <a:latin typeface="+mj-lt"/>
                <a:ea typeface="+mj-ea"/>
                <a:cs typeface="+mj-cs"/>
              </a:rPr>
              <a:t>Baydoun et al. (2019)</a:t>
            </a:r>
          </a:p>
          <a:p>
            <a:pPr algn="ctr">
              <a:lnSpc>
                <a:spcPct val="150000"/>
              </a:lnSpc>
            </a:pPr>
            <a:endParaRPr sz="300" dirty="0">
              <a:solidFill>
                <a:schemeClr val="accent1"/>
              </a:solidFill>
              <a:latin typeface="+mj-lt"/>
              <a:ea typeface="+mj-ea"/>
              <a:cs typeface="+mj-cs"/>
            </a:endParaRPr>
          </a:p>
          <a:p>
            <a:pPr marL="285750" lvl="0" indent="-285750">
              <a:lnSpc>
                <a:spcPct val="150000"/>
              </a:lnSpc>
              <a:buFont typeface="Arial" panose="020B0604020202020204" pitchFamily="34" charset="0"/>
              <a:buChar char="•"/>
            </a:pPr>
            <a:r>
              <a:rPr lang="en-US" sz="1400" dirty="0">
                <a:solidFill>
                  <a:schemeClr val="tx1"/>
                </a:solidFill>
              </a:rPr>
              <a:t>Five Stage MATLAB Pipeline:</a:t>
            </a:r>
          </a:p>
          <a:p>
            <a:pPr marL="800100" lvl="1" indent="-342900">
              <a:lnSpc>
                <a:spcPct val="150000"/>
              </a:lnSpc>
              <a:buFont typeface="+mj-lt"/>
              <a:buAutoNum type="arabicPeriod"/>
            </a:pPr>
            <a:r>
              <a:rPr lang="en-US" sz="1400" dirty="0">
                <a:solidFill>
                  <a:schemeClr val="tx1"/>
                </a:solidFill>
              </a:rPr>
              <a:t>ROI detection</a:t>
            </a:r>
          </a:p>
          <a:p>
            <a:pPr marL="800100" lvl="1" indent="-342900">
              <a:lnSpc>
                <a:spcPct val="150000"/>
              </a:lnSpc>
              <a:buFont typeface="+mj-lt"/>
              <a:buAutoNum type="arabicPeriod"/>
            </a:pPr>
            <a:r>
              <a:rPr lang="en-US" sz="1400" dirty="0">
                <a:solidFill>
                  <a:schemeClr val="tx1"/>
                </a:solidFill>
              </a:rPr>
              <a:t>Otsu thresholding</a:t>
            </a:r>
          </a:p>
          <a:p>
            <a:pPr marL="800100" lvl="1" indent="-342900">
              <a:lnSpc>
                <a:spcPct val="150000"/>
              </a:lnSpc>
              <a:buFont typeface="+mj-lt"/>
              <a:buAutoNum type="arabicPeriod"/>
            </a:pPr>
            <a:r>
              <a:rPr lang="en-US" sz="1400" dirty="0">
                <a:solidFill>
                  <a:schemeClr val="tx1"/>
                </a:solidFill>
              </a:rPr>
              <a:t>Connected-component labeling</a:t>
            </a:r>
          </a:p>
          <a:p>
            <a:pPr marL="800100" lvl="1" indent="-342900">
              <a:lnSpc>
                <a:spcPct val="150000"/>
              </a:lnSpc>
              <a:buFont typeface="+mj-lt"/>
              <a:buAutoNum type="arabicPeriod"/>
            </a:pPr>
            <a:r>
              <a:rPr lang="en-US" sz="1400" dirty="0">
                <a:solidFill>
                  <a:schemeClr val="tx1"/>
                </a:solidFill>
              </a:rPr>
              <a:t>Hough-based trace reconstruction</a:t>
            </a:r>
          </a:p>
          <a:p>
            <a:pPr marL="800100" lvl="1" indent="-342900">
              <a:lnSpc>
                <a:spcPct val="150000"/>
              </a:lnSpc>
              <a:buFont typeface="+mj-lt"/>
              <a:buAutoNum type="arabicPeriod"/>
            </a:pPr>
            <a:r>
              <a:rPr lang="en-US" sz="1400" dirty="0">
                <a:solidFill>
                  <a:schemeClr val="tx1"/>
                </a:solidFill>
              </a:rPr>
              <a:t>Post-processing</a:t>
            </a:r>
          </a:p>
          <a:p>
            <a:pPr marL="342900" indent="-342900">
              <a:lnSpc>
                <a:spcPct val="150000"/>
              </a:lnSpc>
              <a:buFont typeface="Arial" panose="020B0604020202020204" pitchFamily="34" charset="0"/>
              <a:buChar char="•"/>
            </a:pPr>
            <a:r>
              <a:rPr lang="en-US" sz="1400" dirty="0">
                <a:solidFill>
                  <a:schemeClr val="tx1"/>
                </a:solidFill>
              </a:rPr>
              <a:t>Evaluated via Pearson correlation (0.952 avg. across 30 ECGs)</a:t>
            </a:r>
          </a:p>
        </p:txBody>
      </p:sp>
      <p:sp>
        <p:nvSpPr>
          <p:cNvPr id="8" name="Rounded Rectangle 7">
            <a:extLst>
              <a:ext uri="{FF2B5EF4-FFF2-40B4-BE49-F238E27FC236}">
                <a16:creationId xmlns:a16="http://schemas.microsoft.com/office/drawing/2014/main" id="{A767FA9A-7ED4-9AEA-AFF5-50860FD60B86}"/>
              </a:ext>
            </a:extLst>
          </p:cNvPr>
          <p:cNvSpPr/>
          <p:nvPr/>
        </p:nvSpPr>
        <p:spPr>
          <a:xfrm>
            <a:off x="4232006" y="1438656"/>
            <a:ext cx="3547871" cy="460270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ctr"/>
          <a:lstStyle/>
          <a:p>
            <a:pPr algn="ctr">
              <a:lnSpc>
                <a:spcPct val="150000"/>
              </a:lnSpc>
            </a:pPr>
            <a:r>
              <a:rPr lang="en-US" dirty="0">
                <a:solidFill>
                  <a:schemeClr val="accent1"/>
                </a:solidFill>
                <a:latin typeface="+mj-lt"/>
                <a:ea typeface="+mj-ea"/>
                <a:cs typeface="+mj-cs"/>
              </a:rPr>
              <a:t>SignalSavants (Oxford)</a:t>
            </a:r>
          </a:p>
          <a:p>
            <a:pPr algn="ctr">
              <a:lnSpc>
                <a:spcPct val="150000"/>
              </a:lnSpc>
            </a:pPr>
            <a:endParaRPr sz="300" dirty="0">
              <a:solidFill>
                <a:schemeClr val="tx1"/>
              </a:solidFill>
              <a:latin typeface="+mj-lt"/>
              <a:ea typeface="+mj-ea"/>
              <a:cs typeface="+mj-cs"/>
            </a:endParaRPr>
          </a:p>
          <a:p>
            <a:pPr marL="285750" lvl="0" indent="-285750">
              <a:lnSpc>
                <a:spcPct val="150000"/>
              </a:lnSpc>
              <a:buFont typeface="Arial" panose="020B0604020202020204" pitchFamily="34" charset="0"/>
              <a:buChar char="•"/>
            </a:pPr>
            <a:r>
              <a:rPr lang="en-US" sz="1400" dirty="0">
                <a:solidFill>
                  <a:schemeClr val="tx1"/>
                </a:solidFill>
              </a:rPr>
              <a:t>Three Stage Python Pipeline: </a:t>
            </a:r>
          </a:p>
          <a:p>
            <a:pPr marL="800100" lvl="1" indent="-342900">
              <a:lnSpc>
                <a:spcPct val="150000"/>
              </a:lnSpc>
              <a:buFont typeface="+mj-lt"/>
              <a:buAutoNum type="arabicPeriod"/>
            </a:pPr>
            <a:r>
              <a:rPr lang="en-US" sz="1400" dirty="0">
                <a:solidFill>
                  <a:schemeClr val="tx1"/>
                </a:solidFill>
              </a:rPr>
              <a:t>Hough Transform rotation</a:t>
            </a:r>
          </a:p>
          <a:p>
            <a:pPr marL="800100" lvl="1" indent="-342900">
              <a:lnSpc>
                <a:spcPct val="150000"/>
              </a:lnSpc>
              <a:buFont typeface="+mj-lt"/>
              <a:buAutoNum type="arabicPeriod"/>
            </a:pPr>
            <a:r>
              <a:rPr lang="en-US" sz="1400" dirty="0">
                <a:solidFill>
                  <a:schemeClr val="tx1"/>
                </a:solidFill>
              </a:rPr>
              <a:t>nnU-Net segmentation </a:t>
            </a:r>
          </a:p>
          <a:p>
            <a:pPr marL="800100" lvl="1" indent="-342900">
              <a:lnSpc>
                <a:spcPct val="150000"/>
              </a:lnSpc>
              <a:buFont typeface="+mj-lt"/>
              <a:buAutoNum type="arabicPeriod"/>
            </a:pPr>
            <a:r>
              <a:rPr lang="en-US" sz="1400" dirty="0">
                <a:solidFill>
                  <a:schemeClr val="tx1"/>
                </a:solidFill>
              </a:rPr>
              <a:t>column-wise vectorization</a:t>
            </a:r>
          </a:p>
          <a:p>
            <a:pPr marL="285750" lvl="0" indent="-285750">
              <a:lnSpc>
                <a:spcPct val="150000"/>
              </a:lnSpc>
              <a:buFont typeface="Arial" panose="020B0604020202020204" pitchFamily="34" charset="0"/>
              <a:buChar char="•"/>
            </a:pPr>
            <a:r>
              <a:rPr lang="en-US" sz="1400" dirty="0">
                <a:solidFill>
                  <a:schemeClr val="tx1"/>
                </a:solidFill>
              </a:rPr>
              <a:t>Classical CV for rotation, deep learning only for segmentation</a:t>
            </a:r>
          </a:p>
          <a:p>
            <a:pPr marL="285750" lvl="0" indent="-285750">
              <a:lnSpc>
                <a:spcPct val="150000"/>
              </a:lnSpc>
              <a:buFont typeface="Arial" panose="020B0604020202020204" pitchFamily="34" charset="0"/>
              <a:buChar char="•"/>
            </a:pPr>
            <a:r>
              <a:rPr lang="en-US" sz="1400" dirty="0">
                <a:solidFill>
                  <a:schemeClr val="tx1"/>
                </a:solidFill>
              </a:rPr>
              <a:t>Evaluated by signal to noise ratio</a:t>
            </a:r>
          </a:p>
          <a:p>
            <a:pPr marL="285750" indent="-285750">
              <a:lnSpc>
                <a:spcPct val="150000"/>
              </a:lnSpc>
              <a:buFont typeface="Arial" panose="020B0604020202020204" pitchFamily="34" charset="0"/>
              <a:buChar char="•"/>
            </a:pPr>
            <a:r>
              <a:rPr kumimoji="0" lang="en-US" altLang="zh-CN" sz="1400" b="1" i="0" u="none" strike="noStrike" kern="1200" cap="none" spc="0" normalizeH="0" baseline="0" noProof="0" dirty="0">
                <a:ln>
                  <a:noFill/>
                </a:ln>
                <a:solidFill>
                  <a:prstClr val="black"/>
                </a:solidFill>
                <a:effectLst/>
                <a:uLnTx/>
                <a:uFillTx/>
                <a:latin typeface="Trebuchet MS" panose="020B0603020202020204"/>
                <a:ea typeface="+mn-lt"/>
                <a:cs typeface="Times New Roman"/>
              </a:rPr>
              <a:t>SNR 12.15, 1</a:t>
            </a:r>
            <a:r>
              <a:rPr kumimoji="0" lang="en-US" altLang="zh-CN" sz="1400" b="1" i="0" u="none" strike="noStrike" kern="1200" cap="none" spc="0" normalizeH="0" baseline="30000" noProof="0" dirty="0">
                <a:ln>
                  <a:noFill/>
                </a:ln>
                <a:solidFill>
                  <a:prstClr val="black"/>
                </a:solidFill>
                <a:effectLst/>
                <a:uLnTx/>
                <a:uFillTx/>
                <a:latin typeface="Trebuchet MS" panose="020B0603020202020204"/>
                <a:ea typeface="+mn-lt"/>
                <a:cs typeface="Times New Roman"/>
              </a:rPr>
              <a:t>st</a:t>
            </a:r>
            <a:r>
              <a:rPr kumimoji="0" lang="en-US" altLang="zh-CN" sz="1400" b="1" i="0" u="none" strike="noStrike" kern="1200" cap="none" spc="0" normalizeH="0" baseline="0" noProof="0" dirty="0">
                <a:ln>
                  <a:noFill/>
                </a:ln>
                <a:solidFill>
                  <a:prstClr val="black"/>
                </a:solidFill>
                <a:effectLst/>
                <a:uLnTx/>
                <a:uFillTx/>
                <a:latin typeface="Trebuchet MS" panose="020B0603020202020204"/>
                <a:ea typeface="+mn-lt"/>
                <a:cs typeface="Times New Roman"/>
              </a:rPr>
              <a:t> place in Physionet Challenge</a:t>
            </a:r>
            <a:endParaRPr lang="en-US" sz="1400" dirty="0">
              <a:solidFill>
                <a:schemeClr val="tx1"/>
              </a:solidFill>
            </a:endParaRPr>
          </a:p>
        </p:txBody>
      </p:sp>
      <p:sp>
        <p:nvSpPr>
          <p:cNvPr id="9" name="Rounded Rectangle 8">
            <a:extLst>
              <a:ext uri="{FF2B5EF4-FFF2-40B4-BE49-F238E27FC236}">
                <a16:creationId xmlns:a16="http://schemas.microsoft.com/office/drawing/2014/main" id="{314C42C0-80DF-E870-56EA-139AA28D4744}"/>
              </a:ext>
            </a:extLst>
          </p:cNvPr>
          <p:cNvSpPr/>
          <p:nvPr/>
        </p:nvSpPr>
        <p:spPr>
          <a:xfrm>
            <a:off x="8171404" y="1438656"/>
            <a:ext cx="3547871" cy="460270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ctr"/>
          <a:lstStyle/>
          <a:p>
            <a:pPr algn="ctr">
              <a:lnSpc>
                <a:spcPct val="150000"/>
              </a:lnSpc>
            </a:pPr>
            <a:r>
              <a:rPr lang="en-US" dirty="0">
                <a:solidFill>
                  <a:schemeClr val="accent1"/>
                </a:solidFill>
                <a:latin typeface="+mj-lt"/>
                <a:ea typeface="+mj-ea"/>
                <a:cs typeface="+mj-cs"/>
              </a:rPr>
              <a:t>WAVIE (Auckland) </a:t>
            </a:r>
          </a:p>
          <a:p>
            <a:pPr algn="ctr">
              <a:lnSpc>
                <a:spcPct val="150000"/>
              </a:lnSpc>
            </a:pPr>
            <a:endParaRPr sz="300" dirty="0">
              <a:solidFill>
                <a:schemeClr val="tx1"/>
              </a:solidFill>
              <a:latin typeface="+mj-lt"/>
              <a:ea typeface="+mj-ea"/>
              <a:cs typeface="+mj-cs"/>
            </a:endParaRPr>
          </a:p>
          <a:p>
            <a:pPr marL="285750" lvl="0" indent="-285750">
              <a:lnSpc>
                <a:spcPct val="150000"/>
              </a:lnSpc>
              <a:buFont typeface="Arial" panose="020B0604020202020204" pitchFamily="34" charset="0"/>
              <a:buChar char="•"/>
            </a:pPr>
            <a:r>
              <a:rPr lang="en-US" sz="1400" dirty="0">
                <a:solidFill>
                  <a:schemeClr val="tx1"/>
                </a:solidFill>
              </a:rPr>
              <a:t>Four Stage Python Pipeline</a:t>
            </a:r>
          </a:p>
          <a:p>
            <a:pPr marL="800100" lvl="1" indent="-342900">
              <a:lnSpc>
                <a:spcPct val="150000"/>
              </a:lnSpc>
              <a:buFont typeface="+mj-lt"/>
              <a:buAutoNum type="arabicPeriod"/>
            </a:pPr>
            <a:r>
              <a:rPr lang="en-US" sz="1400" dirty="0">
                <a:solidFill>
                  <a:schemeClr val="tx1"/>
                </a:solidFill>
              </a:rPr>
              <a:t>Learned rotation correction</a:t>
            </a:r>
          </a:p>
          <a:p>
            <a:pPr marL="800100" lvl="1" indent="-342900">
              <a:lnSpc>
                <a:spcPct val="150000"/>
              </a:lnSpc>
              <a:buFont typeface="+mj-lt"/>
              <a:buAutoNum type="arabicPeriod"/>
            </a:pPr>
            <a:r>
              <a:rPr lang="en-US" sz="1400" dirty="0">
                <a:solidFill>
                  <a:schemeClr val="tx1"/>
                </a:solidFill>
              </a:rPr>
              <a:t>nnU-Net segmentation </a:t>
            </a:r>
          </a:p>
          <a:p>
            <a:pPr marL="800100" lvl="1" indent="-342900">
              <a:lnSpc>
                <a:spcPct val="150000"/>
              </a:lnSpc>
              <a:buFont typeface="+mj-lt"/>
              <a:buAutoNum type="arabicPeriod"/>
            </a:pPr>
            <a:r>
              <a:rPr lang="en-US" sz="1400" dirty="0">
                <a:solidFill>
                  <a:schemeClr val="tx1"/>
                </a:solidFill>
              </a:rPr>
              <a:t>YOLOv5s lead localization</a:t>
            </a:r>
          </a:p>
          <a:p>
            <a:pPr marL="800100" lvl="1" indent="-342900">
              <a:lnSpc>
                <a:spcPct val="150000"/>
              </a:lnSpc>
              <a:buFont typeface="+mj-lt"/>
              <a:buAutoNum type="arabicPeriod"/>
            </a:pPr>
            <a:r>
              <a:rPr lang="en-US" sz="1400" dirty="0">
                <a:solidFill>
                  <a:schemeClr val="tx1"/>
                </a:solidFill>
              </a:rPr>
              <a:t>OpenCV digitization</a:t>
            </a:r>
          </a:p>
          <a:p>
            <a:pPr marL="285750" lvl="0" indent="-285750">
              <a:lnSpc>
                <a:spcPct val="150000"/>
              </a:lnSpc>
              <a:buFont typeface="Arial" panose="020B0604020202020204" pitchFamily="34" charset="0"/>
              <a:buChar char="•"/>
            </a:pPr>
            <a:r>
              <a:rPr lang="en-US" sz="1400" dirty="0">
                <a:solidFill>
                  <a:schemeClr val="tx1"/>
                </a:solidFill>
              </a:rPr>
              <a:t>Modular, 4 trained models</a:t>
            </a:r>
          </a:p>
          <a:p>
            <a:pPr marL="285750" lvl="0" indent="-285750">
              <a:lnSpc>
                <a:spcPct val="150000"/>
              </a:lnSpc>
              <a:buFont typeface="Arial" panose="020B0604020202020204" pitchFamily="34" charset="0"/>
              <a:buChar char="•"/>
            </a:pPr>
            <a:r>
              <a:rPr lang="en-US" sz="1400" dirty="0">
                <a:solidFill>
                  <a:schemeClr val="tx1"/>
                </a:solidFill>
              </a:rPr>
              <a:t>Evaluated by signal to noise ratio</a:t>
            </a:r>
          </a:p>
          <a:p>
            <a:pPr marL="285750" indent="-285750">
              <a:lnSpc>
                <a:spcPct val="150000"/>
              </a:lnSpc>
              <a:buFont typeface="Arial" panose="020B0604020202020204" pitchFamily="34" charset="0"/>
              <a:buChar char="•"/>
            </a:pPr>
            <a:r>
              <a:rPr kumimoji="0" lang="en-US" altLang="zh-CN" sz="1400" b="1"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lt"/>
                <a:cs typeface="Times New Roman"/>
              </a:rPr>
              <a:t>SNR 5.469</a:t>
            </a:r>
            <a:r>
              <a:rPr lang="en-US" altLang="zh-CN" sz="1400" b="1" dirty="0">
                <a:solidFill>
                  <a:prstClr val="black"/>
                </a:solidFill>
                <a:ea typeface="+mn-lt"/>
                <a:cs typeface="Times New Roman"/>
              </a:rPr>
              <a:t>, 3</a:t>
            </a:r>
            <a:r>
              <a:rPr lang="en-US" altLang="zh-CN" sz="1400" b="1" baseline="30000" dirty="0">
                <a:solidFill>
                  <a:prstClr val="black"/>
                </a:solidFill>
                <a:ea typeface="+mn-lt"/>
                <a:cs typeface="Times New Roman"/>
              </a:rPr>
              <a:t>rd</a:t>
            </a:r>
            <a:r>
              <a:rPr lang="en-US" altLang="zh-CN" sz="1400" b="1" dirty="0">
                <a:solidFill>
                  <a:prstClr val="black"/>
                </a:solidFill>
                <a:ea typeface="+mn-lt"/>
                <a:cs typeface="Times New Roman"/>
              </a:rPr>
              <a:t> place in Physionet Challenge</a:t>
            </a:r>
            <a:endParaRPr lang="en-US" sz="1400" dirty="0">
              <a:solidFill>
                <a:schemeClr val="tx1"/>
              </a:solidFill>
            </a:endParaRPr>
          </a:p>
          <a:p>
            <a:pPr marL="285750" lvl="0" indent="-285750">
              <a:lnSpc>
                <a:spcPct val="150000"/>
              </a:lnSpc>
              <a:buFont typeface="Arial" panose="020B0604020202020204" pitchFamily="34" charset="0"/>
              <a:buChar char="•"/>
            </a:pPr>
            <a:endParaRPr lang="en-US" sz="1400" dirty="0">
              <a:solidFill>
                <a:schemeClr val="tx1"/>
              </a:solidFill>
            </a:endParaRPr>
          </a:p>
        </p:txBody>
      </p:sp>
    </p:spTree>
    <p:extLst>
      <p:ext uri="{BB962C8B-B14F-4D97-AF65-F5344CB8AC3E}">
        <p14:creationId xmlns:p14="http://schemas.microsoft.com/office/powerpoint/2010/main" val="373093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8829A-AF2D-C070-FB1F-93EC5FB12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508D7-B247-1FC8-C5B2-D26BB74AF40E}"/>
              </a:ext>
            </a:extLst>
          </p:cNvPr>
          <p:cNvSpPr>
            <a:spLocks noGrp="1"/>
          </p:cNvSpPr>
          <p:nvPr>
            <p:ph type="title"/>
          </p:nvPr>
        </p:nvSpPr>
        <p:spPr>
          <a:xfrm>
            <a:off x="677334" y="609600"/>
            <a:ext cx="9222570" cy="1320800"/>
          </a:xfrm>
        </p:spPr>
        <p:txBody>
          <a:bodyPr/>
          <a:lstStyle/>
          <a:p>
            <a:r>
              <a:rPr lang="en-US" dirty="0"/>
              <a:t>Evaluation Metric 1 – Pearson Correlation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E144384-17BA-56F4-2F56-CCBE0FAD9A7E}"/>
                  </a:ext>
                </a:extLst>
              </p:cNvPr>
              <p:cNvSpPr>
                <a:spLocks noGrp="1"/>
              </p:cNvSpPr>
              <p:nvPr>
                <p:ph idx="1"/>
              </p:nvPr>
            </p:nvSpPr>
            <p:spPr>
              <a:xfrm>
                <a:off x="677334" y="1474763"/>
                <a:ext cx="9051882" cy="4773637"/>
              </a:xfrm>
            </p:spPr>
            <p:txBody>
              <a:bodyPr vert="horz" lIns="91440" tIns="45720" rIns="91440" bIns="45720" rtlCol="0" anchor="t">
                <a:noAutofit/>
              </a:bodyPr>
              <a:lstStyle/>
              <a:p>
                <a:r>
                  <a:rPr lang="en-US" dirty="0"/>
                  <a:t>Baydoun et. al used Pearson Correlation to test their model’s performance</a:t>
                </a:r>
              </a:p>
              <a:p>
                <a:pPr marL="0" indent="0">
                  <a:buNone/>
                </a:pPr>
                <a:endParaRPr lang="en-US" dirty="0"/>
              </a:p>
              <a:p>
                <a:pPr marL="0" indent="0">
                  <a:buNone/>
                </a:pPr>
                <a14:m>
                  <m:oMathPara xmlns:m="http://schemas.openxmlformats.org/officeDocument/2006/math">
                    <m:oMath>
                      <m:r>
                        <a:rPr lang="en-US" i="1" smtClean="0">
                          <a:latin typeface="Cambria Math" panose="02040503050406030204" pitchFamily="18" charset="0"/>
                        </a:rPr>
                        <m:t>𝑟</m:t>
                      </m:r>
                      <m:r>
                        <a:rPr lang="en-US" i="1" smtClean="0">
                          <a:latin typeface="Cambria Math" panose="02040503050406030204" pitchFamily="18" charset="0"/>
                        </a:rPr>
                        <m:t>=</m:t>
                      </m:r>
                      <m:f>
                        <m:fPr>
                          <m:ctrlPr>
                            <a:rPr lang="en-US" i="1">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nary>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num>
                        <m:den>
                          <m:rad>
                            <m:radPr>
                              <m:degHide m:val="on"/>
                              <m:ctrlPr>
                                <a:rPr lang="en-US" i="1">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sup>
                                      <m:r>
                                        <a:rPr lang="en-US" i="1">
                                          <a:latin typeface="Cambria Math" panose="02040503050406030204" pitchFamily="18" charset="0"/>
                                        </a:rPr>
                                        <m:t>2</m:t>
                                      </m:r>
                                    </m:sup>
                                  </m:sSup>
                                </m:e>
                              </m:nary>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d>
                                    </m:e>
                                    <m:sup>
                                      <m:r>
                                        <a:rPr lang="en-US" i="1">
                                          <a:latin typeface="Cambria Math" panose="02040503050406030204" pitchFamily="18" charset="0"/>
                                        </a:rPr>
                                        <m:t>2</m:t>
                                      </m:r>
                                    </m:sup>
                                  </m:sSup>
                                </m:e>
                              </m:nary>
                            </m:e>
                          </m:rad>
                        </m:den>
                      </m:f>
                    </m:oMath>
                  </m:oMathPara>
                </a14:m>
                <a:endParaRPr lang="en-US" dirty="0"/>
              </a:p>
              <a:p>
                <a:pPr lvl="0"/>
                <a:r>
                  <a:rPr lang="en-US" dirty="0"/>
                  <a:t>Pearson r ranges from −1 to 1, 1 = perfect positive linear correlation between the two signals</a:t>
                </a:r>
              </a:p>
              <a:p>
                <a:pPr lvl="1"/>
                <a:r>
                  <a:rPr lang="en-US" dirty="0"/>
                  <a:t>Published result: avg. 0.952 ± 0.036 across 30 ECGs</a:t>
                </a:r>
              </a:p>
              <a:p>
                <a:pPr lvl="1"/>
                <a:r>
                  <a:rPr lang="en-US" dirty="0"/>
                  <a:t>We will aim to achieve a similar range with their method</a:t>
                </a:r>
              </a:p>
              <a:p>
                <a:pPr lvl="0"/>
                <a:r>
                  <a:rPr lang="en-US" dirty="0"/>
                  <a:t>We use this to compare our replication against the original paper's own reported numbers for consistency</a:t>
                </a:r>
              </a:p>
              <a:p>
                <a:pPr lvl="0"/>
                <a:r>
                  <a:rPr lang="en-US" dirty="0"/>
                  <a:t>We will also try to compare the other methods to this baseline using Pearson r to compare their performances</a:t>
                </a:r>
              </a:p>
            </p:txBody>
          </p:sp>
        </mc:Choice>
        <mc:Fallback xmlns="">
          <p:sp>
            <p:nvSpPr>
              <p:cNvPr id="5" name="Content Placeholder 4">
                <a:extLst>
                  <a:ext uri="{FF2B5EF4-FFF2-40B4-BE49-F238E27FC236}">
                    <a16:creationId xmlns:a16="http://schemas.microsoft.com/office/drawing/2014/main" id="{AE144384-17BA-56F4-2F56-CCBE0FAD9A7E}"/>
                  </a:ext>
                </a:extLst>
              </p:cNvPr>
              <p:cNvSpPr>
                <a:spLocks noGrp="1" noRot="1" noChangeAspect="1" noMove="1" noResize="1" noEditPoints="1" noAdjustHandles="1" noChangeArrowheads="1" noChangeShapeType="1" noTextEdit="1"/>
              </p:cNvSpPr>
              <p:nvPr>
                <p:ph idx="1"/>
              </p:nvPr>
            </p:nvSpPr>
            <p:spPr>
              <a:xfrm>
                <a:off x="677334" y="1474763"/>
                <a:ext cx="9051882" cy="4773637"/>
              </a:xfrm>
              <a:blipFill>
                <a:blip r:embed="rId3"/>
                <a:stretch>
                  <a:fillRect l="-140" t="-796"/>
                </a:stretch>
              </a:blipFill>
            </p:spPr>
            <p:txBody>
              <a:bodyPr/>
              <a:lstStyle/>
              <a:p>
                <a:r>
                  <a:rPr lang="en-US">
                    <a:noFill/>
                  </a:rPr>
                  <a:t> </a:t>
                </a:r>
              </a:p>
            </p:txBody>
          </p:sp>
        </mc:Fallback>
      </mc:AlternateContent>
    </p:spTree>
    <p:extLst>
      <p:ext uri="{BB962C8B-B14F-4D97-AF65-F5344CB8AC3E}">
        <p14:creationId xmlns:p14="http://schemas.microsoft.com/office/powerpoint/2010/main" val="637305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96A3-D399-5F08-2FA7-99A59ED15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12A47-B759-D29A-FC5A-5B9CAFC9533B}"/>
              </a:ext>
            </a:extLst>
          </p:cNvPr>
          <p:cNvSpPr>
            <a:spLocks noGrp="1"/>
          </p:cNvSpPr>
          <p:nvPr>
            <p:ph type="title"/>
          </p:nvPr>
        </p:nvSpPr>
        <p:spPr>
          <a:xfrm>
            <a:off x="677334" y="609600"/>
            <a:ext cx="9222570" cy="1320800"/>
          </a:xfrm>
        </p:spPr>
        <p:txBody>
          <a:bodyPr/>
          <a:lstStyle/>
          <a:p>
            <a:r>
              <a:rPr lang="en-US" dirty="0"/>
              <a:t>Evaluation Metric 2 – Signal to Noise Ratio</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60E930F-9F6A-23E8-1953-58CBE51AC897}"/>
                  </a:ext>
                </a:extLst>
              </p:cNvPr>
              <p:cNvSpPr>
                <a:spLocks noGrp="1"/>
              </p:cNvSpPr>
              <p:nvPr>
                <p:ph idx="1"/>
              </p:nvPr>
            </p:nvSpPr>
            <p:spPr>
              <a:xfrm>
                <a:off x="677334" y="1474763"/>
                <a:ext cx="9051882" cy="4773637"/>
              </a:xfrm>
            </p:spPr>
            <p:txBody>
              <a:bodyPr vert="horz" lIns="91440" tIns="45720" rIns="91440" bIns="45720" rtlCol="0" anchor="t">
                <a:noAutofit/>
              </a:bodyPr>
              <a:lstStyle/>
              <a:p>
                <a:r>
                  <a:rPr lang="en-US" dirty="0"/>
                  <a:t>Official PhysioNet Challenge 2024 digitization metric was Signal to Noise Ratio</a:t>
                </a:r>
              </a:p>
              <a:p>
                <a:r>
                  <a:rPr lang="en-US" dirty="0"/>
                  <a:t>Both SignalSavants and WAVIE were ranked on this metric</a:t>
                </a:r>
              </a:p>
              <a:p>
                <a:endParaRPr lang="en-US" dirty="0"/>
              </a:p>
              <a:p>
                <a:pPr marL="0" indent="0">
                  <a:buNone/>
                </a:pPr>
                <a14:m>
                  <m:oMathPara xmlns:m="http://schemas.openxmlformats.org/officeDocument/2006/math">
                    <m:oMath>
                      <m:r>
                        <m:rPr>
                          <m:nor/>
                        </m:rPr>
                        <a:rPr lang="en-US" i="0" smtClean="0">
                          <a:latin typeface="Cambria Math" panose="02040503050406030204" pitchFamily="18" charset="0"/>
                        </a:rPr>
                        <m:t>SNR (dB)</m:t>
                      </m:r>
                      <m:r>
                        <a:rPr lang="en-US" i="1">
                          <a:latin typeface="Cambria Math" panose="02040503050406030204" pitchFamily="18" charset="0"/>
                        </a:rPr>
                        <m:t>=10</m:t>
                      </m:r>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i="1">
                                  <a:latin typeface="Cambria Math" panose="02040503050406030204" pitchFamily="18" charset="0"/>
                                </a:rPr>
                                <m:t>log</m:t>
                              </m:r>
                            </m:e>
                            <m:sub>
                              <m:r>
                                <a:rPr lang="en-US" i="1">
                                  <a:latin typeface="Cambria Math" panose="02040503050406030204" pitchFamily="18" charset="0"/>
                                </a:rPr>
                                <m:t>10</m:t>
                              </m:r>
                            </m:sub>
                          </m:sSub>
                        </m:fName>
                        <m:e>
                          <m:d>
                            <m:dPr>
                              <m:ctrlPr>
                                <a:rPr lang="en-US" i="1">
                                  <a:latin typeface="Cambria Math" panose="02040503050406030204" pitchFamily="18" charset="0"/>
                                </a:rPr>
                              </m:ctrlPr>
                            </m:dPr>
                            <m:e>
                              <m:f>
                                <m:fPr>
                                  <m:ctrlPr>
                                    <a:rPr lang="en-US" i="1">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2</m:t>
                                          </m:r>
                                        </m:sup>
                                      </m:sSubSup>
                                    </m:e>
                                  </m:nary>
                                </m:num>
                                <m:den>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den>
                              </m:f>
                            </m:e>
                          </m:d>
                        </m:e>
                      </m:func>
                    </m:oMath>
                  </m:oMathPara>
                </a14:m>
                <a:endParaRPr lang="en-US" dirty="0"/>
              </a:p>
              <a:p>
                <a:pPr lvl="0"/>
                <a:r>
                  <a:rPr lang="en-US" dirty="0"/>
                  <a:t>x = reference signal, y = digitized signal. Numerator is reference signal energy, denominator is reconstruction error energy</a:t>
                </a:r>
              </a:p>
              <a:p>
                <a:pPr lvl="0"/>
                <a:r>
                  <a:rPr lang="en-US" dirty="0"/>
                  <a:t>Before scoring, y is shifted in time/amplitude to maximize cross-correlation with x (±0.5s / ±1mV), so alignment offsets aren't penalized</a:t>
                </a:r>
              </a:p>
              <a:p>
                <a:pPr lvl="0"/>
                <a:r>
                  <a:rPr lang="en-US" dirty="0"/>
                  <a:t>Missing samples aren't scored directly, score is scaled by fraction of samples digitized, then averaged across all records/leads</a:t>
                </a:r>
              </a:p>
              <a:p>
                <a:r>
                  <a:rPr lang="en-US" dirty="0"/>
                  <a:t>We use this to place our methods on the same scale as SignalSavants (12.15) and WAVIE (5.469)</a:t>
                </a:r>
              </a:p>
            </p:txBody>
          </p:sp>
        </mc:Choice>
        <mc:Fallback xmlns="">
          <p:sp>
            <p:nvSpPr>
              <p:cNvPr id="5" name="Content Placeholder 4">
                <a:extLst>
                  <a:ext uri="{FF2B5EF4-FFF2-40B4-BE49-F238E27FC236}">
                    <a16:creationId xmlns:a16="http://schemas.microsoft.com/office/drawing/2014/main" id="{160E930F-9F6A-23E8-1953-58CBE51AC897}"/>
                  </a:ext>
                </a:extLst>
              </p:cNvPr>
              <p:cNvSpPr>
                <a:spLocks noGrp="1" noRot="1" noChangeAspect="1" noMove="1" noResize="1" noEditPoints="1" noAdjustHandles="1" noChangeArrowheads="1" noChangeShapeType="1" noTextEdit="1"/>
              </p:cNvSpPr>
              <p:nvPr>
                <p:ph idx="1"/>
              </p:nvPr>
            </p:nvSpPr>
            <p:spPr>
              <a:xfrm>
                <a:off x="677334" y="1474763"/>
                <a:ext cx="9051882" cy="4773637"/>
              </a:xfrm>
              <a:blipFill>
                <a:blip r:embed="rId3"/>
                <a:stretch>
                  <a:fillRect l="-140" t="-796" r="-1120"/>
                </a:stretch>
              </a:blipFill>
            </p:spPr>
            <p:txBody>
              <a:bodyPr/>
              <a:lstStyle/>
              <a:p>
                <a:r>
                  <a:rPr lang="en-US">
                    <a:noFill/>
                  </a:rPr>
                  <a:t> </a:t>
                </a:r>
              </a:p>
            </p:txBody>
          </p:sp>
        </mc:Fallback>
      </mc:AlternateContent>
    </p:spTree>
    <p:extLst>
      <p:ext uri="{BB962C8B-B14F-4D97-AF65-F5344CB8AC3E}">
        <p14:creationId xmlns:p14="http://schemas.microsoft.com/office/powerpoint/2010/main" val="170634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1585-1D65-464C-8447-7E50F4F15B3D}"/>
              </a:ext>
            </a:extLst>
          </p:cNvPr>
          <p:cNvSpPr>
            <a:spLocks noGrp="1"/>
          </p:cNvSpPr>
          <p:nvPr>
            <p:ph type="title"/>
          </p:nvPr>
        </p:nvSpPr>
        <p:spPr>
          <a:xfrm>
            <a:off x="592312" y="264160"/>
            <a:ext cx="8596668" cy="1320800"/>
          </a:xfrm>
        </p:spPr>
        <p:txBody>
          <a:bodyPr/>
          <a:lstStyle/>
          <a:p>
            <a:r>
              <a:rPr lang="en-US" dirty="0"/>
              <a:t>Creating Distorted Data</a:t>
            </a:r>
          </a:p>
        </p:txBody>
      </p:sp>
      <p:sp>
        <p:nvSpPr>
          <p:cNvPr id="3" name="Content Placeholder 2">
            <a:extLst>
              <a:ext uri="{FF2B5EF4-FFF2-40B4-BE49-F238E27FC236}">
                <a16:creationId xmlns:a16="http://schemas.microsoft.com/office/drawing/2014/main" id="{48FC661C-9FE4-1D7F-52D0-60D0EFFF2FA0}"/>
              </a:ext>
            </a:extLst>
          </p:cNvPr>
          <p:cNvSpPr>
            <a:spLocks noGrp="1"/>
          </p:cNvSpPr>
          <p:nvPr>
            <p:ph idx="1"/>
          </p:nvPr>
        </p:nvSpPr>
        <p:spPr>
          <a:xfrm>
            <a:off x="592312" y="1146048"/>
            <a:ext cx="5064776" cy="5571743"/>
          </a:xfrm>
        </p:spPr>
        <p:txBody>
          <a:bodyPr>
            <a:normAutofit/>
          </a:bodyPr>
          <a:lstStyle/>
          <a:p>
            <a:r>
              <a:rPr lang="en-US" dirty="0"/>
              <a:t>ECG-Image-Kit can digitally recreate thermal paper ECG:</a:t>
            </a:r>
          </a:p>
          <a:p>
            <a:pPr lvl="1"/>
            <a:r>
              <a:rPr lang="en-US" dirty="0"/>
              <a:t>Plot the signal </a:t>
            </a:r>
          </a:p>
          <a:p>
            <a:pPr lvl="1"/>
            <a:r>
              <a:rPr lang="en-US" dirty="0"/>
              <a:t>Add grid lines, header (date, sex, age) and labels </a:t>
            </a:r>
          </a:p>
          <a:p>
            <a:pPr lvl="1"/>
            <a:r>
              <a:rPr lang="en-US" dirty="0"/>
              <a:t>Apply distortions:</a:t>
            </a:r>
          </a:p>
          <a:p>
            <a:pPr lvl="2"/>
            <a:r>
              <a:rPr lang="en-US" dirty="0"/>
              <a:t>Wrinkles and Creases</a:t>
            </a:r>
          </a:p>
          <a:p>
            <a:pPr lvl="2"/>
            <a:r>
              <a:rPr lang="en-US" dirty="0"/>
              <a:t>Handwritten Notes and Noise</a:t>
            </a:r>
          </a:p>
          <a:p>
            <a:pPr lvl="2"/>
            <a:r>
              <a:rPr lang="en-US" dirty="0"/>
              <a:t>Rotation, Crop, Color Temperature</a:t>
            </a:r>
          </a:p>
          <a:p>
            <a:r>
              <a:rPr lang="en-US" b="1" dirty="0"/>
              <a:t>Limitations: </a:t>
            </a:r>
          </a:p>
          <a:p>
            <a:pPr lvl="1"/>
            <a:r>
              <a:rPr lang="en-US" dirty="0"/>
              <a:t>Wrinkle patterns limited to a fixed set of 20 quilted maps, limited camera perspectives</a:t>
            </a:r>
          </a:p>
          <a:p>
            <a:pPr lvl="1"/>
            <a:r>
              <a:rPr lang="en-US" dirty="0"/>
              <a:t>No water damage/blurring ink</a:t>
            </a:r>
          </a:p>
          <a:p>
            <a:r>
              <a:rPr lang="en-US" dirty="0"/>
              <a:t>We plan to test our own image creation to better understand the process and its limits</a:t>
            </a:r>
          </a:p>
        </p:txBody>
      </p:sp>
      <p:pic>
        <p:nvPicPr>
          <p:cNvPr id="9" name="Picture 8">
            <a:extLst>
              <a:ext uri="{FF2B5EF4-FFF2-40B4-BE49-F238E27FC236}">
                <a16:creationId xmlns:a16="http://schemas.microsoft.com/office/drawing/2014/main" id="{EAEC4191-A213-A481-19CB-40CD2A6E30CA}"/>
              </a:ext>
            </a:extLst>
          </p:cNvPr>
          <p:cNvPicPr>
            <a:picLocks noChangeAspect="1"/>
          </p:cNvPicPr>
          <p:nvPr/>
        </p:nvPicPr>
        <p:blipFill>
          <a:blip r:embed="rId3"/>
          <a:stretch>
            <a:fillRect/>
          </a:stretch>
        </p:blipFill>
        <p:spPr>
          <a:xfrm>
            <a:off x="5942602" y="1243307"/>
            <a:ext cx="5657086" cy="4371385"/>
          </a:xfrm>
          <a:prstGeom prst="rect">
            <a:avLst/>
          </a:prstGeom>
        </p:spPr>
      </p:pic>
    </p:spTree>
    <p:extLst>
      <p:ext uri="{BB962C8B-B14F-4D97-AF65-F5344CB8AC3E}">
        <p14:creationId xmlns:p14="http://schemas.microsoft.com/office/powerpoint/2010/main" val="1874477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4A53B1-C867-BEC9-2119-B511367CE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E1E2E-6BC0-06F4-07EB-F86B6D8157DD}"/>
              </a:ext>
            </a:extLst>
          </p:cNvPr>
          <p:cNvSpPr>
            <a:spLocks noGrp="1"/>
          </p:cNvSpPr>
          <p:nvPr>
            <p:ph type="title"/>
          </p:nvPr>
        </p:nvSpPr>
        <p:spPr>
          <a:xfrm>
            <a:off x="677334" y="609600"/>
            <a:ext cx="8929962" cy="1320800"/>
          </a:xfrm>
        </p:spPr>
        <p:txBody>
          <a:bodyPr>
            <a:normAutofit/>
          </a:bodyPr>
          <a:lstStyle/>
          <a:p>
            <a:r>
              <a:rPr lang="en-US" dirty="0"/>
              <a:t>PhysioNet Challenge Dataset</a:t>
            </a:r>
          </a:p>
        </p:txBody>
      </p:sp>
      <p:sp>
        <p:nvSpPr>
          <p:cNvPr id="5" name="Content Placeholder 4">
            <a:extLst>
              <a:ext uri="{FF2B5EF4-FFF2-40B4-BE49-F238E27FC236}">
                <a16:creationId xmlns:a16="http://schemas.microsoft.com/office/drawing/2014/main" id="{C722F6C0-E7B7-E8DF-7B32-D7534AB6401A}"/>
              </a:ext>
            </a:extLst>
          </p:cNvPr>
          <p:cNvSpPr>
            <a:spLocks noGrp="1"/>
          </p:cNvSpPr>
          <p:nvPr>
            <p:ph idx="1"/>
          </p:nvPr>
        </p:nvSpPr>
        <p:spPr>
          <a:xfrm>
            <a:off x="677334" y="1511808"/>
            <a:ext cx="5616904" cy="4584192"/>
          </a:xfrm>
        </p:spPr>
        <p:txBody>
          <a:bodyPr vert="horz" lIns="91440" tIns="45720" rIns="91440" bIns="45720" rtlCol="0" anchor="t">
            <a:normAutofit lnSpcReduction="10000"/>
          </a:bodyPr>
          <a:lstStyle/>
          <a:p>
            <a:pPr lvl="0"/>
            <a:r>
              <a:rPr lang="en-US" dirty="0"/>
              <a:t>37,191 images total, generated from 2,243 unique 12-lead ECG records – 37 GB</a:t>
            </a:r>
          </a:p>
          <a:p>
            <a:pPr lvl="1"/>
            <a:r>
              <a:rPr lang="en-US" dirty="0"/>
              <a:t>PTB-XL (Germany) — 977 records</a:t>
            </a:r>
          </a:p>
          <a:p>
            <a:pPr lvl="1"/>
            <a:r>
              <a:rPr lang="en-US" dirty="0"/>
              <a:t>Emory Healthcare (USA) — 1,000 records</a:t>
            </a:r>
          </a:p>
          <a:p>
            <a:pPr lvl="1"/>
            <a:r>
              <a:rPr lang="en-US" dirty="0"/>
              <a:t>Akershus University Hospital (Norway) — 266 records</a:t>
            </a:r>
          </a:p>
          <a:p>
            <a:r>
              <a:rPr lang="en-US" dirty="0"/>
              <a:t>PTB-XL and Emory records were rendered via ECG-Image-Kit, then printed and distorted manually</a:t>
            </a:r>
          </a:p>
          <a:p>
            <a:pPr lvl="1"/>
            <a:r>
              <a:rPr lang="en-US" dirty="0"/>
              <a:t>Physical scans, phone photos, monitor photos, water/coffee/sauce staining, heat damage, mold</a:t>
            </a:r>
          </a:p>
          <a:p>
            <a:pPr indent="-285750"/>
            <a:r>
              <a:rPr lang="en-US" dirty="0"/>
              <a:t>Akershus images are originally paper scans with archived digital counterparts</a:t>
            </a:r>
          </a:p>
          <a:p>
            <a:pPr indent="-285750"/>
            <a:r>
              <a:rPr lang="en-US" dirty="0"/>
              <a:t>Each image has a corresponding WFDB format digital signal as ground truth</a:t>
            </a:r>
          </a:p>
          <a:p>
            <a:pPr lvl="1"/>
            <a:endParaRPr lang="en-US" dirty="0"/>
          </a:p>
        </p:txBody>
      </p:sp>
      <p:pic>
        <p:nvPicPr>
          <p:cNvPr id="4" name="Picture 3">
            <a:extLst>
              <a:ext uri="{FF2B5EF4-FFF2-40B4-BE49-F238E27FC236}">
                <a16:creationId xmlns:a16="http://schemas.microsoft.com/office/drawing/2014/main" id="{9A293F95-CF2A-CB20-DD01-1EBBA17E85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238" y="2258569"/>
            <a:ext cx="5531677" cy="2669032"/>
          </a:xfrm>
          <a:prstGeom prst="rect">
            <a:avLst/>
          </a:prstGeom>
        </p:spPr>
      </p:pic>
    </p:spTree>
    <p:extLst>
      <p:ext uri="{BB962C8B-B14F-4D97-AF65-F5344CB8AC3E}">
        <p14:creationId xmlns:p14="http://schemas.microsoft.com/office/powerpoint/2010/main" val="3939054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B81C7-E6BE-CB17-F03A-D8C5AD2A2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637A1-D24A-D046-FD42-D9E453EBEB0C}"/>
              </a:ext>
            </a:extLst>
          </p:cNvPr>
          <p:cNvSpPr>
            <a:spLocks noGrp="1"/>
          </p:cNvSpPr>
          <p:nvPr>
            <p:ph type="title"/>
          </p:nvPr>
        </p:nvSpPr>
        <p:spPr>
          <a:xfrm>
            <a:off x="677334" y="609600"/>
            <a:ext cx="8929962" cy="1320800"/>
          </a:xfrm>
        </p:spPr>
        <p:txBody>
          <a:bodyPr>
            <a:normAutofit/>
          </a:bodyPr>
          <a:lstStyle/>
          <a:p>
            <a:r>
              <a:rPr lang="en-US" dirty="0"/>
              <a:t>Subgroup Analysis – Distortion Type</a:t>
            </a:r>
          </a:p>
        </p:txBody>
      </p:sp>
      <p:sp>
        <p:nvSpPr>
          <p:cNvPr id="5" name="Content Placeholder 4">
            <a:extLst>
              <a:ext uri="{FF2B5EF4-FFF2-40B4-BE49-F238E27FC236}">
                <a16:creationId xmlns:a16="http://schemas.microsoft.com/office/drawing/2014/main" id="{3D940C1F-3964-07B1-E9C5-507233550377}"/>
              </a:ext>
            </a:extLst>
          </p:cNvPr>
          <p:cNvSpPr>
            <a:spLocks noGrp="1"/>
          </p:cNvSpPr>
          <p:nvPr>
            <p:ph idx="1"/>
          </p:nvPr>
        </p:nvSpPr>
        <p:spPr>
          <a:xfrm>
            <a:off x="677334" y="1511808"/>
            <a:ext cx="5616904" cy="4584192"/>
          </a:xfrm>
        </p:spPr>
        <p:txBody>
          <a:bodyPr vert="horz" lIns="91440" tIns="45720" rIns="91440" bIns="45720" rtlCol="0" anchor="t">
            <a:normAutofit fontScale="92500" lnSpcReduction="20000"/>
          </a:bodyPr>
          <a:lstStyle/>
          <a:p>
            <a:pPr lvl="0"/>
            <a:r>
              <a:rPr lang="en-US" dirty="0"/>
              <a:t>28 image variants across capture method</a:t>
            </a:r>
          </a:p>
          <a:p>
            <a:pPr lvl="0"/>
            <a:r>
              <a:rPr lang="en-US" dirty="0"/>
              <a:t>PTB-XL/Emory (synthetic origin) distortions </a:t>
            </a:r>
          </a:p>
          <a:p>
            <a:pPr lvl="1"/>
            <a:r>
              <a:rPr lang="en-US" dirty="0"/>
              <a:t>Programmatic: rotation, geometric transforms, wrinkles, creases, grid color, handwritten text</a:t>
            </a:r>
          </a:p>
          <a:p>
            <a:pPr lvl="1"/>
            <a:r>
              <a:rPr lang="en-US" dirty="0"/>
              <a:t>Physical: color/grayscale scans, phone photos, monitor photos, water/coffee/sauce staining, heat damage, mold</a:t>
            </a:r>
          </a:p>
          <a:p>
            <a:pPr lvl="0"/>
            <a:r>
              <a:rPr lang="en-US" dirty="0"/>
              <a:t>Akershus’ real distortions</a:t>
            </a:r>
          </a:p>
          <a:p>
            <a:pPr lvl="1"/>
            <a:r>
              <a:rPr lang="en-US" dirty="0"/>
              <a:t>Natural wear from routine clinical handling (bending, handwritten annotations)</a:t>
            </a:r>
          </a:p>
          <a:p>
            <a:pPr lvl="1"/>
            <a:r>
              <a:rPr lang="en-US" dirty="0"/>
              <a:t>Captured via flatbed scanner, iPhone 16 Pro Max, OnePlus Nord CE2</a:t>
            </a:r>
          </a:p>
          <a:p>
            <a:pPr lvl="0"/>
            <a:r>
              <a:rPr lang="en-US" dirty="0"/>
              <a:t>Plan: score SNR separately per category</a:t>
            </a:r>
          </a:p>
          <a:p>
            <a:pPr lvl="1"/>
            <a:r>
              <a:rPr lang="en-US" dirty="0"/>
              <a:t>Test performance on synthetic + physical distortions vs true clinical handling distortions</a:t>
            </a:r>
          </a:p>
          <a:p>
            <a:pPr lvl="1"/>
            <a:r>
              <a:rPr lang="en-US" dirty="0"/>
              <a:t>Find failure modes for each model type</a:t>
            </a:r>
          </a:p>
        </p:txBody>
      </p:sp>
      <p:pic>
        <p:nvPicPr>
          <p:cNvPr id="3" name="Picture 2">
            <a:extLst>
              <a:ext uri="{FF2B5EF4-FFF2-40B4-BE49-F238E27FC236}">
                <a16:creationId xmlns:a16="http://schemas.microsoft.com/office/drawing/2014/main" id="{8794E26D-4E21-A4C4-BF91-FF7B00CFD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238" y="3539226"/>
            <a:ext cx="5897762" cy="2400507"/>
          </a:xfrm>
          <a:prstGeom prst="rect">
            <a:avLst/>
          </a:prstGeom>
        </p:spPr>
      </p:pic>
      <p:pic>
        <p:nvPicPr>
          <p:cNvPr id="6" name="Picture 5">
            <a:extLst>
              <a:ext uri="{FF2B5EF4-FFF2-40B4-BE49-F238E27FC236}">
                <a16:creationId xmlns:a16="http://schemas.microsoft.com/office/drawing/2014/main" id="{27E43F93-B49D-1A4F-6185-F956486E36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4238" y="1239864"/>
            <a:ext cx="5897762" cy="2316977"/>
          </a:xfrm>
          <a:prstGeom prst="rect">
            <a:avLst/>
          </a:prstGeom>
        </p:spPr>
      </p:pic>
    </p:spTree>
    <p:extLst>
      <p:ext uri="{BB962C8B-B14F-4D97-AF65-F5344CB8AC3E}">
        <p14:creationId xmlns:p14="http://schemas.microsoft.com/office/powerpoint/2010/main" val="102658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B89D86-144F-2366-4773-D11B1C6DD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19C2D-8211-CEF5-39EF-A553A5E3FA45}"/>
              </a:ext>
            </a:extLst>
          </p:cNvPr>
          <p:cNvSpPr>
            <a:spLocks noGrp="1"/>
          </p:cNvSpPr>
          <p:nvPr>
            <p:ph type="title"/>
          </p:nvPr>
        </p:nvSpPr>
        <p:spPr>
          <a:xfrm>
            <a:off x="677334" y="609600"/>
            <a:ext cx="8929962" cy="1320800"/>
          </a:xfrm>
        </p:spPr>
        <p:txBody>
          <a:bodyPr>
            <a:normAutofit/>
          </a:bodyPr>
          <a:lstStyle/>
          <a:p>
            <a:r>
              <a:rPr lang="en-US" dirty="0"/>
              <a:t>Subgroup Analysis – Diagnosis Type</a:t>
            </a:r>
          </a:p>
        </p:txBody>
      </p:sp>
      <p:sp>
        <p:nvSpPr>
          <p:cNvPr id="5" name="Content Placeholder 4">
            <a:extLst>
              <a:ext uri="{FF2B5EF4-FFF2-40B4-BE49-F238E27FC236}">
                <a16:creationId xmlns:a16="http://schemas.microsoft.com/office/drawing/2014/main" id="{B86FFE03-DF09-6F06-83BA-5A0CB2492E2F}"/>
              </a:ext>
            </a:extLst>
          </p:cNvPr>
          <p:cNvSpPr>
            <a:spLocks noGrp="1"/>
          </p:cNvSpPr>
          <p:nvPr>
            <p:ph idx="1"/>
          </p:nvPr>
        </p:nvSpPr>
        <p:spPr>
          <a:xfrm>
            <a:off x="677334" y="1511808"/>
            <a:ext cx="5616904" cy="4584192"/>
          </a:xfrm>
        </p:spPr>
        <p:txBody>
          <a:bodyPr vert="horz" lIns="91440" tIns="45720" rIns="91440" bIns="45720" rtlCol="0" anchor="t">
            <a:normAutofit/>
          </a:bodyPr>
          <a:lstStyle/>
          <a:p>
            <a:pPr lvl="0"/>
            <a:r>
              <a:rPr lang="en-US" dirty="0"/>
              <a:t>PTB-XL has diagnostic superclasses;</a:t>
            </a:r>
          </a:p>
          <a:p>
            <a:pPr lvl="1"/>
            <a:r>
              <a:rPr lang="en-US" dirty="0"/>
              <a:t>Normal</a:t>
            </a:r>
          </a:p>
          <a:p>
            <a:pPr lvl="1"/>
            <a:r>
              <a:rPr lang="en-US" dirty="0"/>
              <a:t>Myocardial Infarction</a:t>
            </a:r>
          </a:p>
          <a:p>
            <a:pPr lvl="1"/>
            <a:r>
              <a:rPr lang="en-US" dirty="0"/>
              <a:t>ST/T Change</a:t>
            </a:r>
          </a:p>
          <a:p>
            <a:pPr lvl="1"/>
            <a:r>
              <a:rPr lang="en-US" dirty="0"/>
              <a:t>Conduction Disturbance</a:t>
            </a:r>
          </a:p>
          <a:p>
            <a:pPr lvl="1"/>
            <a:r>
              <a:rPr lang="en-US" dirty="0"/>
              <a:t>Hypertrophy</a:t>
            </a:r>
          </a:p>
          <a:p>
            <a:r>
              <a:rPr lang="en-US" dirty="0"/>
              <a:t>The other two datasets do not specify diagnostic subgroups, will need to double check once we have data access</a:t>
            </a:r>
          </a:p>
          <a:p>
            <a:r>
              <a:rPr lang="en-US" b="1" dirty="0"/>
              <a:t>Plan:</a:t>
            </a:r>
            <a:r>
              <a:rPr lang="en-US" dirty="0"/>
              <a:t> compute SNR separately per diagnostic class</a:t>
            </a:r>
          </a:p>
          <a:p>
            <a:pPr lvl="1"/>
            <a:r>
              <a:rPr lang="en-US" dirty="0"/>
              <a:t>Accurate on normal rhythm but degraded on abnormal morphology is problematic</a:t>
            </a:r>
            <a:endParaRPr lang="en-US" b="1" dirty="0"/>
          </a:p>
        </p:txBody>
      </p:sp>
      <p:pic>
        <p:nvPicPr>
          <p:cNvPr id="4" name="Picture 3">
            <a:extLst>
              <a:ext uri="{FF2B5EF4-FFF2-40B4-BE49-F238E27FC236}">
                <a16:creationId xmlns:a16="http://schemas.microsoft.com/office/drawing/2014/main" id="{ABA42514-7E22-437B-7DBE-1DAECAF3A5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238" y="2258569"/>
            <a:ext cx="5531677" cy="2669032"/>
          </a:xfrm>
          <a:prstGeom prst="rect">
            <a:avLst/>
          </a:prstGeom>
        </p:spPr>
      </p:pic>
    </p:spTree>
    <p:extLst>
      <p:ext uri="{BB962C8B-B14F-4D97-AF65-F5344CB8AC3E}">
        <p14:creationId xmlns:p14="http://schemas.microsoft.com/office/powerpoint/2010/main" val="386702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293BB-3BE3-FA69-9BC2-4FCA84066FE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1ED351F-9F1E-6FDD-A213-C5291657D1EC}"/>
              </a:ext>
            </a:extLst>
          </p:cNvPr>
          <p:cNvSpPr>
            <a:spLocks noGrp="1"/>
          </p:cNvSpPr>
          <p:nvPr>
            <p:ph idx="1"/>
          </p:nvPr>
        </p:nvSpPr>
        <p:spPr>
          <a:xfrm>
            <a:off x="677333" y="1647931"/>
            <a:ext cx="8908794" cy="4393432"/>
          </a:xfrm>
        </p:spPr>
        <p:txBody>
          <a:bodyPr vert="horz" lIns="91440" tIns="45720" rIns="91440" bIns="45720" rtlCol="0">
            <a:normAutofit/>
          </a:bodyPr>
          <a:lstStyle/>
          <a:p>
            <a:pPr lvl="0"/>
            <a:r>
              <a:rPr lang="en-US" sz="2400" dirty="0"/>
              <a:t>Finish baseline replication, get first Pearson/SNR numbers</a:t>
            </a:r>
          </a:p>
          <a:p>
            <a:pPr lvl="0"/>
            <a:r>
              <a:rPr lang="en-US" sz="2400" dirty="0"/>
              <a:t>Test ECG-Image-Kit for custom dataset creation</a:t>
            </a:r>
          </a:p>
          <a:p>
            <a:pPr lvl="0"/>
            <a:r>
              <a:rPr lang="en-US" sz="2400" dirty="0"/>
              <a:t>Once cluster access is available: </a:t>
            </a:r>
          </a:p>
          <a:p>
            <a:pPr lvl="1"/>
            <a:r>
              <a:rPr lang="en-US" sz="2200" dirty="0"/>
              <a:t>Run full subgroup breakdown (distortion type × diagnostic class) on ECG-Image-Database</a:t>
            </a:r>
          </a:p>
          <a:p>
            <a:pPr lvl="1"/>
            <a:r>
              <a:rPr lang="en-US" sz="2200" dirty="0"/>
              <a:t>Replicate and test SignalSavants/WAVIE’s public code against our subgroup splits</a:t>
            </a:r>
          </a:p>
          <a:p>
            <a:endParaRPr lang="en-US" sz="2400" dirty="0"/>
          </a:p>
          <a:p>
            <a:endParaRPr lang="en-US" sz="2400" dirty="0"/>
          </a:p>
        </p:txBody>
      </p:sp>
      <p:sp>
        <p:nvSpPr>
          <p:cNvPr id="4" name="Date Placeholder 3">
            <a:extLst>
              <a:ext uri="{FF2B5EF4-FFF2-40B4-BE49-F238E27FC236}">
                <a16:creationId xmlns:a16="http://schemas.microsoft.com/office/drawing/2014/main" id="{542179D0-31FF-78AC-685C-AA20F7001DB4}"/>
              </a:ext>
            </a:extLst>
          </p:cNvPr>
          <p:cNvSpPr>
            <a:spLocks noGrp="1"/>
          </p:cNvSpPr>
          <p:nvPr>
            <p:ph type="dt" sz="half" idx="10"/>
          </p:nvPr>
        </p:nvSpPr>
        <p:spPr/>
        <p:txBody>
          <a:bodyPr/>
          <a:lstStyle/>
          <a:p>
            <a:fld id="{BDED2E60-0956-4818-BDC3-A381D46755E4}" type="datetime1">
              <a:rPr lang="en-US"/>
              <a:t>10/29/26</a:t>
            </a:fld>
            <a:endParaRPr lang="en-US"/>
          </a:p>
        </p:txBody>
      </p:sp>
      <p:sp>
        <p:nvSpPr>
          <p:cNvPr id="5" name="Footer Placeholder 4">
            <a:extLst>
              <a:ext uri="{FF2B5EF4-FFF2-40B4-BE49-F238E27FC236}">
                <a16:creationId xmlns:a16="http://schemas.microsoft.com/office/drawing/2014/main" id="{FA5DF27A-5DBB-BC86-821E-FAE602B2988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1AA6D4F-AE6B-9E13-5844-031CA8065F86}"/>
              </a:ext>
            </a:extLst>
          </p:cNvPr>
          <p:cNvSpPr>
            <a:spLocks noGrp="1"/>
          </p:cNvSpPr>
          <p:nvPr>
            <p:ph type="sldNum" sz="quarter" idx="12"/>
          </p:nvPr>
        </p:nvSpPr>
        <p:spPr/>
        <p:txBody>
          <a:bodyPr/>
          <a:lstStyle/>
          <a:p>
            <a:fld id="{2DE90F28-AFBB-4AB2-AA79-6D3F72ED131B}" type="slidenum">
              <a:rPr lang="en-US" smtClean="0"/>
              <a:pPr/>
              <a:t>10</a:t>
            </a:fld>
            <a:endParaRPr lang="en-US"/>
          </a:p>
        </p:txBody>
      </p:sp>
    </p:spTree>
    <p:extLst>
      <p:ext uri="{BB962C8B-B14F-4D97-AF65-F5344CB8AC3E}">
        <p14:creationId xmlns:p14="http://schemas.microsoft.com/office/powerpoint/2010/main" val="555622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F661-27BF-945C-7461-B8B921AC18C0}"/>
              </a:ext>
            </a:extLst>
          </p:cNvPr>
          <p:cNvSpPr>
            <a:spLocks noGrp="1"/>
          </p:cNvSpPr>
          <p:nvPr>
            <p:ph type="title"/>
          </p:nvPr>
        </p:nvSpPr>
        <p:spPr>
          <a:xfrm>
            <a:off x="662958" y="3326004"/>
            <a:ext cx="8596668" cy="698236"/>
          </a:xfrm>
        </p:spPr>
        <p:txBody>
          <a:bodyPr>
            <a:normAutofit fontScale="90000"/>
          </a:bodyPr>
          <a:lstStyle/>
          <a:p>
            <a:r>
              <a:rPr lang="en-US"/>
              <a:t>Thank you for listening</a:t>
            </a:r>
          </a:p>
        </p:txBody>
      </p:sp>
      <p:sp>
        <p:nvSpPr>
          <p:cNvPr id="3" name="Content Placeholder 2">
            <a:extLst>
              <a:ext uri="{FF2B5EF4-FFF2-40B4-BE49-F238E27FC236}">
                <a16:creationId xmlns:a16="http://schemas.microsoft.com/office/drawing/2014/main" id="{F7C41002-EAE0-85E7-F98D-AC2FDEF705F7}"/>
              </a:ext>
            </a:extLst>
          </p:cNvPr>
          <p:cNvSpPr>
            <a:spLocks noGrp="1"/>
          </p:cNvSpPr>
          <p:nvPr>
            <p:ph type="body" idx="1"/>
          </p:nvPr>
        </p:nvSpPr>
        <p:spPr>
          <a:xfrm>
            <a:off x="677335" y="4024240"/>
            <a:ext cx="8596668" cy="860400"/>
          </a:xfrm>
        </p:spPr>
        <p:txBody>
          <a:bodyPr/>
          <a:lstStyle/>
          <a:p>
            <a:r>
              <a:rPr lang="en-US"/>
              <a:t>Any Questions?</a:t>
            </a:r>
          </a:p>
        </p:txBody>
      </p:sp>
      <p:sp>
        <p:nvSpPr>
          <p:cNvPr id="4" name="Date Placeholder 3">
            <a:extLst>
              <a:ext uri="{FF2B5EF4-FFF2-40B4-BE49-F238E27FC236}">
                <a16:creationId xmlns:a16="http://schemas.microsoft.com/office/drawing/2014/main" id="{FBD9EA58-C29D-2A6F-3DC9-3CBBC02CCD08}"/>
              </a:ext>
            </a:extLst>
          </p:cNvPr>
          <p:cNvSpPr>
            <a:spLocks noGrp="1"/>
          </p:cNvSpPr>
          <p:nvPr>
            <p:ph type="dt" sz="half" idx="10"/>
          </p:nvPr>
        </p:nvSpPr>
        <p:spPr/>
        <p:txBody>
          <a:bodyPr/>
          <a:lstStyle/>
          <a:p>
            <a:fld id="{FBC7137F-B00C-4EB4-A790-AED02F420930}" type="datetime1">
              <a:rPr lang="en-US"/>
              <a:t>10/29/26</a:t>
            </a:fld>
            <a:endParaRPr lang="en-US"/>
          </a:p>
        </p:txBody>
      </p:sp>
      <p:sp>
        <p:nvSpPr>
          <p:cNvPr id="5" name="Footer Placeholder 4">
            <a:extLst>
              <a:ext uri="{FF2B5EF4-FFF2-40B4-BE49-F238E27FC236}">
                <a16:creationId xmlns:a16="http://schemas.microsoft.com/office/drawing/2014/main" id="{5D956DBA-4051-5EA5-7967-F3AAB23C142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63CF9E6-4436-1B02-E41D-4B6233809AAE}"/>
              </a:ext>
            </a:extLst>
          </p:cNvPr>
          <p:cNvSpPr>
            <a:spLocks noGrp="1"/>
          </p:cNvSpPr>
          <p:nvPr>
            <p:ph type="sldNum" sz="quarter" idx="12"/>
          </p:nvPr>
        </p:nvSpPr>
        <p:spPr/>
        <p:txBody>
          <a:bodyPr/>
          <a:lstStyle/>
          <a:p>
            <a:fld id="{2DE90F28-AFBB-4AB2-AA79-6D3F72ED131B}" type="slidenum">
              <a:rPr lang="en-US" smtClean="0"/>
              <a:pPr/>
              <a:t>11</a:t>
            </a:fld>
            <a:endParaRPr lang="en-US"/>
          </a:p>
        </p:txBody>
      </p:sp>
    </p:spTree>
    <p:extLst>
      <p:ext uri="{BB962C8B-B14F-4D97-AF65-F5344CB8AC3E}">
        <p14:creationId xmlns:p14="http://schemas.microsoft.com/office/powerpoint/2010/main" val="506382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766B5-F8E9-24DF-49A4-B0E8E56F164F}"/>
              </a:ext>
            </a:extLst>
          </p:cNvPr>
          <p:cNvSpPr>
            <a:spLocks noGrp="1"/>
          </p:cNvSpPr>
          <p:nvPr>
            <p:ph type="title"/>
          </p:nvPr>
        </p:nvSpPr>
        <p:spPr>
          <a:xfrm>
            <a:off x="677334" y="817944"/>
            <a:ext cx="8596668" cy="1320800"/>
          </a:xfrm>
        </p:spPr>
        <p:txBody>
          <a:bodyPr/>
          <a:lstStyle/>
          <a:p>
            <a:r>
              <a:rPr lang="en-US"/>
              <a:t>References</a:t>
            </a:r>
          </a:p>
        </p:txBody>
      </p:sp>
      <p:sp>
        <p:nvSpPr>
          <p:cNvPr id="3" name="Content Placeholder 2">
            <a:extLst>
              <a:ext uri="{FF2B5EF4-FFF2-40B4-BE49-F238E27FC236}">
                <a16:creationId xmlns:a16="http://schemas.microsoft.com/office/drawing/2014/main" id="{181943A1-BF32-A5B4-2625-762D99384664}"/>
              </a:ext>
            </a:extLst>
          </p:cNvPr>
          <p:cNvSpPr>
            <a:spLocks noGrp="1"/>
          </p:cNvSpPr>
          <p:nvPr>
            <p:ph idx="1"/>
          </p:nvPr>
        </p:nvSpPr>
        <p:spPr>
          <a:xfrm>
            <a:off x="677334" y="1720751"/>
            <a:ext cx="9716732" cy="3880773"/>
          </a:xfrm>
        </p:spPr>
        <p:txBody>
          <a:bodyPr vert="horz" lIns="91440" tIns="45720" rIns="91440" bIns="45720" rtlCol="0">
            <a:normAutofit fontScale="92500"/>
          </a:bodyPr>
          <a:lstStyle/>
          <a:p>
            <a:r>
              <a:rPr lang="en-US" sz="1400" dirty="0">
                <a:highlight>
                  <a:srgbClr val="FFFFFF"/>
                </a:highlight>
              </a:rPr>
              <a:t>[1] Baydoun, M., </a:t>
            </a:r>
            <a:r>
              <a:rPr lang="en-US" sz="1400" dirty="0" err="1">
                <a:highlight>
                  <a:srgbClr val="FFFFFF"/>
                </a:highlight>
              </a:rPr>
              <a:t>Safatly</a:t>
            </a:r>
            <a:r>
              <a:rPr lang="en-US" sz="1400" dirty="0">
                <a:highlight>
                  <a:srgbClr val="FFFFFF"/>
                </a:highlight>
              </a:rPr>
              <a:t>, L., Abou Hassan, O. K., </a:t>
            </a:r>
            <a:r>
              <a:rPr lang="en-US" sz="1400" dirty="0" err="1">
                <a:highlight>
                  <a:srgbClr val="FFFFFF"/>
                </a:highlight>
              </a:rPr>
              <a:t>Ghaziri</a:t>
            </a:r>
            <a:r>
              <a:rPr lang="en-US" sz="1400" dirty="0">
                <a:highlight>
                  <a:srgbClr val="FFFFFF"/>
                </a:highlight>
              </a:rPr>
              <a:t>, H., El Hajj, A., &amp; Isma’eel, H. (2019). High Precision Digitization of Paper-Based ECG Records: A Step Toward Machine Learning. </a:t>
            </a:r>
            <a:r>
              <a:rPr lang="en-US" sz="1400" i="1" dirty="0">
                <a:highlight>
                  <a:srgbClr val="FFFFFF"/>
                </a:highlight>
              </a:rPr>
              <a:t>IEEE Journal of Translational Engineering in Health and Medicine</a:t>
            </a:r>
            <a:r>
              <a:rPr lang="en-US" sz="1400" dirty="0">
                <a:highlight>
                  <a:srgbClr val="FFFFFF"/>
                </a:highlight>
              </a:rPr>
              <a:t>, 7, 1900808. DOI: 10.1109/JTEHM.2019.2949784</a:t>
            </a:r>
          </a:p>
          <a:p>
            <a:r>
              <a:rPr lang="en-US" sz="1400" dirty="0">
                <a:highlight>
                  <a:srgbClr val="FFFFFF"/>
                </a:highlight>
              </a:rPr>
              <a:t>[2] Krones, J. S., Walker, W., Lyons, T., &amp; Mahdi, A. (2024). Combining Hough Transform and Deep Learning Approaches to Reconstruct ECG Signals From Printouts. arXiv:2410.14185.</a:t>
            </a:r>
          </a:p>
          <a:p>
            <a:r>
              <a:rPr lang="en-US" sz="1400" dirty="0">
                <a:highlight>
                  <a:srgbClr val="FFFFFF"/>
                </a:highlight>
              </a:rPr>
              <a:t>[3] </a:t>
            </a:r>
            <a:r>
              <a:rPr lang="en-US" sz="1400" dirty="0" err="1">
                <a:highlight>
                  <a:srgbClr val="FFFFFF"/>
                </a:highlight>
              </a:rPr>
              <a:t>Verlyck</a:t>
            </a:r>
            <a:r>
              <a:rPr lang="en-US" sz="1400" dirty="0">
                <a:highlight>
                  <a:srgbClr val="FFFFFF"/>
                </a:highlight>
              </a:rPr>
              <a:t>, M. A., Dillon, J. R., Creamer, S. A., &amp; Zhao, D. (2024). WAVIE: A Modular and Open-Source Python Implementation for Fully Automated </a:t>
            </a:r>
            <a:r>
              <a:rPr lang="en-US" sz="1400" dirty="0" err="1">
                <a:highlight>
                  <a:srgbClr val="FFFFFF"/>
                </a:highlight>
              </a:rPr>
              <a:t>Digitisation</a:t>
            </a:r>
            <a:r>
              <a:rPr lang="en-US" sz="1400" dirty="0">
                <a:highlight>
                  <a:srgbClr val="FFFFFF"/>
                </a:highlight>
              </a:rPr>
              <a:t> of Paper Electrocardiograms. </a:t>
            </a:r>
            <a:r>
              <a:rPr lang="en-US" sz="1400" i="1" dirty="0">
                <a:highlight>
                  <a:srgbClr val="FFFFFF"/>
                </a:highlight>
              </a:rPr>
              <a:t>Computing in Cardiology</a:t>
            </a:r>
            <a:r>
              <a:rPr lang="en-US" sz="1400" dirty="0">
                <a:highlight>
                  <a:srgbClr val="FFFFFF"/>
                </a:highlight>
              </a:rPr>
              <a:t>, 51. DOI: 10.22489/CinC.2024.229</a:t>
            </a:r>
          </a:p>
          <a:p>
            <a:r>
              <a:rPr lang="en-US" sz="1400" dirty="0">
                <a:highlight>
                  <a:srgbClr val="FFFFFF"/>
                </a:highlight>
              </a:rPr>
              <a:t>[4] Reyna, M. A., et al. (2026). ECG-Image-Database: Large-Scale Paired ECG Images and Time-Series With Real-World Artifacts; A Foundation for Computerized ECG Digitization and Analysis. </a:t>
            </a:r>
            <a:r>
              <a:rPr lang="en-US" sz="1400" i="1" dirty="0">
                <a:highlight>
                  <a:srgbClr val="FFFFFF"/>
                </a:highlight>
              </a:rPr>
              <a:t>Physiological Measurement</a:t>
            </a:r>
            <a:r>
              <a:rPr lang="en-US" sz="1400" dirty="0">
                <a:highlight>
                  <a:srgbClr val="FFFFFF"/>
                </a:highlight>
              </a:rPr>
              <a:t>, 47(7), 075015. DOI: 10.1088/1361-6579/ae85b2</a:t>
            </a:r>
          </a:p>
          <a:p>
            <a:r>
              <a:rPr lang="en-US" sz="1400" dirty="0">
                <a:highlight>
                  <a:srgbClr val="FFFFFF"/>
                </a:highlight>
              </a:rPr>
              <a:t>[5] Wagner, P., </a:t>
            </a:r>
            <a:r>
              <a:rPr lang="en-US" sz="1400" dirty="0" err="1">
                <a:highlight>
                  <a:srgbClr val="FFFFFF"/>
                </a:highlight>
              </a:rPr>
              <a:t>Strodthoff</a:t>
            </a:r>
            <a:r>
              <a:rPr lang="en-US" sz="1400" dirty="0">
                <a:highlight>
                  <a:srgbClr val="FFFFFF"/>
                </a:highlight>
              </a:rPr>
              <a:t>, N., </a:t>
            </a:r>
            <a:r>
              <a:rPr lang="en-US" sz="1400" dirty="0" err="1">
                <a:highlight>
                  <a:srgbClr val="FFFFFF"/>
                </a:highlight>
              </a:rPr>
              <a:t>Bousseljot</a:t>
            </a:r>
            <a:r>
              <a:rPr lang="en-US" sz="1400" dirty="0">
                <a:highlight>
                  <a:srgbClr val="FFFFFF"/>
                </a:highlight>
              </a:rPr>
              <a:t>, R.-D., </a:t>
            </a:r>
            <a:r>
              <a:rPr lang="en-US" sz="1400" dirty="0" err="1">
                <a:highlight>
                  <a:srgbClr val="FFFFFF"/>
                </a:highlight>
              </a:rPr>
              <a:t>Kreiseler</a:t>
            </a:r>
            <a:r>
              <a:rPr lang="en-US" sz="1400" dirty="0">
                <a:highlight>
                  <a:srgbClr val="FFFFFF"/>
                </a:highlight>
              </a:rPr>
              <a:t>, D., </a:t>
            </a:r>
            <a:r>
              <a:rPr lang="en-US" sz="1400" dirty="0" err="1">
                <a:highlight>
                  <a:srgbClr val="FFFFFF"/>
                </a:highlight>
              </a:rPr>
              <a:t>Lunze</a:t>
            </a:r>
            <a:r>
              <a:rPr lang="en-US" sz="1400" dirty="0">
                <a:highlight>
                  <a:srgbClr val="FFFFFF"/>
                </a:highlight>
              </a:rPr>
              <a:t>, F. I., Samek, W., &amp; </a:t>
            </a:r>
            <a:r>
              <a:rPr lang="en-US" sz="1400" dirty="0" err="1">
                <a:highlight>
                  <a:srgbClr val="FFFFFF"/>
                </a:highlight>
              </a:rPr>
              <a:t>Schaeffter</a:t>
            </a:r>
            <a:r>
              <a:rPr lang="en-US" sz="1400" dirty="0">
                <a:highlight>
                  <a:srgbClr val="FFFFFF"/>
                </a:highlight>
              </a:rPr>
              <a:t>, T. (2020). PTB-XL, a Large Publicly Available Electrocardiography Dataset. </a:t>
            </a:r>
            <a:r>
              <a:rPr lang="en-US" sz="1400" i="1" dirty="0">
                <a:highlight>
                  <a:srgbClr val="FFFFFF"/>
                </a:highlight>
              </a:rPr>
              <a:t>Scientific Data</a:t>
            </a:r>
            <a:r>
              <a:rPr lang="en-US" sz="1400" dirty="0">
                <a:highlight>
                  <a:srgbClr val="FFFFFF"/>
                </a:highlight>
              </a:rPr>
              <a:t>, 7(1). DOI: 10.1038/s41597-020-0495-6</a:t>
            </a:r>
          </a:p>
          <a:p>
            <a:r>
              <a:rPr lang="en-US" sz="1400" dirty="0">
                <a:highlight>
                  <a:srgbClr val="FFFFFF"/>
                </a:highlight>
              </a:rPr>
              <a:t>[6] </a:t>
            </a:r>
            <a:r>
              <a:rPr lang="en-US" sz="1400" dirty="0" err="1">
                <a:highlight>
                  <a:srgbClr val="FFFFFF"/>
                </a:highlight>
              </a:rPr>
              <a:t>Stenhede</a:t>
            </a:r>
            <a:r>
              <a:rPr lang="en-US" sz="1400" dirty="0">
                <a:highlight>
                  <a:srgbClr val="FFFFFF"/>
                </a:highlight>
              </a:rPr>
              <a:t>, E., Bjørnstad, A. M., &amp; Ranjbar, A. (2026). Digitizing Paper ECGs at Scale: An Open-Source Algorithm for Clinical Research. </a:t>
            </a:r>
            <a:r>
              <a:rPr lang="en-US" sz="1400" i="1" dirty="0">
                <a:highlight>
                  <a:srgbClr val="FFFFFF"/>
                </a:highlight>
              </a:rPr>
              <a:t>npj Digital Medicine</a:t>
            </a:r>
            <a:r>
              <a:rPr lang="en-US" sz="1400" dirty="0">
                <a:highlight>
                  <a:srgbClr val="FFFFFF"/>
                </a:highlight>
              </a:rPr>
              <a:t>, 9(1). DOI: 10.1038/s41746-025-02327-1 (this is the Akershus/AHUS dataset paper)</a:t>
            </a:r>
          </a:p>
        </p:txBody>
      </p:sp>
    </p:spTree>
    <p:extLst>
      <p:ext uri="{BB962C8B-B14F-4D97-AF65-F5344CB8AC3E}">
        <p14:creationId xmlns:p14="http://schemas.microsoft.com/office/powerpoint/2010/main" val="3773748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BE9FE-D6E8-ABFA-E868-BA690DE30F98}"/>
              </a:ext>
            </a:extLst>
          </p:cNvPr>
          <p:cNvSpPr>
            <a:spLocks noGrp="1"/>
          </p:cNvSpPr>
          <p:nvPr>
            <p:ph type="title"/>
          </p:nvPr>
        </p:nvSpPr>
        <p:spPr/>
        <p:txBody>
          <a:bodyPr/>
          <a:lstStyle/>
          <a:p>
            <a:r>
              <a:rPr lang="en-US"/>
              <a:t>Baseline Algorithm Replication</a:t>
            </a:r>
          </a:p>
        </p:txBody>
      </p:sp>
      <p:sp>
        <p:nvSpPr>
          <p:cNvPr id="3" name="Content Placeholder 2">
            <a:extLst>
              <a:ext uri="{FF2B5EF4-FFF2-40B4-BE49-F238E27FC236}">
                <a16:creationId xmlns:a16="http://schemas.microsoft.com/office/drawing/2014/main" id="{FE52722C-E826-E6B2-AD13-32F8C1DDE422}"/>
              </a:ext>
            </a:extLst>
          </p:cNvPr>
          <p:cNvSpPr>
            <a:spLocks noGrp="1"/>
          </p:cNvSpPr>
          <p:nvPr>
            <p:ph idx="1"/>
          </p:nvPr>
        </p:nvSpPr>
        <p:spPr>
          <a:xfrm>
            <a:off x="684200" y="1590806"/>
            <a:ext cx="8596668" cy="448341"/>
          </a:xfrm>
        </p:spPr>
        <p:txBody>
          <a:bodyPr vert="horz" lIns="91440" tIns="45720" rIns="91440" bIns="45720" rtlCol="0">
            <a:normAutofit/>
          </a:bodyPr>
          <a:lstStyle/>
          <a:p>
            <a:pPr marL="0" indent="0">
              <a:buNone/>
            </a:pPr>
            <a:r>
              <a:rPr lang="en-US"/>
              <a:t>Replicating image processing and digitization pipeline from Baydoun et al. (2019)</a:t>
            </a:r>
          </a:p>
        </p:txBody>
      </p:sp>
      <p:sp>
        <p:nvSpPr>
          <p:cNvPr id="4" name="Date Placeholder 3">
            <a:extLst>
              <a:ext uri="{FF2B5EF4-FFF2-40B4-BE49-F238E27FC236}">
                <a16:creationId xmlns:a16="http://schemas.microsoft.com/office/drawing/2014/main" id="{27E55ABB-B95D-8600-82C1-114BE9390059}"/>
              </a:ext>
            </a:extLst>
          </p:cNvPr>
          <p:cNvSpPr>
            <a:spLocks noGrp="1"/>
          </p:cNvSpPr>
          <p:nvPr>
            <p:ph type="dt" sz="half" idx="10"/>
          </p:nvPr>
        </p:nvSpPr>
        <p:spPr/>
        <p:txBody>
          <a:bodyPr/>
          <a:lstStyle/>
          <a:p>
            <a:fld id="{30DFAC3C-4A98-4C2E-BC4B-64B5ACDCF468}" type="datetime1">
              <a:rPr lang="en-US"/>
              <a:t>10/29/26</a:t>
            </a:fld>
            <a:endParaRPr lang="en-US"/>
          </a:p>
        </p:txBody>
      </p:sp>
      <p:sp>
        <p:nvSpPr>
          <p:cNvPr id="5" name="Footer Placeholder 4">
            <a:extLst>
              <a:ext uri="{FF2B5EF4-FFF2-40B4-BE49-F238E27FC236}">
                <a16:creationId xmlns:a16="http://schemas.microsoft.com/office/drawing/2014/main" id="{CAD4B8FF-E71B-8D54-A93E-E000D68CEAB8}"/>
              </a:ext>
            </a:extLst>
          </p:cNvPr>
          <p:cNvSpPr>
            <a:spLocks noGrp="1"/>
          </p:cNvSpPr>
          <p:nvPr>
            <p:ph type="ftr" sz="quarter" idx="11"/>
          </p:nvPr>
        </p:nvSpPr>
        <p:spPr>
          <a:xfrm>
            <a:off x="677334" y="5668468"/>
            <a:ext cx="6297612" cy="365125"/>
          </a:xfrm>
        </p:spPr>
        <p:txBody>
          <a:bodyPr/>
          <a:lstStyle/>
          <a:p>
            <a:r>
              <a:rPr lang="en-US"/>
              <a:t>
              </a:t>
            </a:r>
          </a:p>
        </p:txBody>
      </p:sp>
      <p:sp>
        <p:nvSpPr>
          <p:cNvPr id="6" name="Slide Number Placeholder 5">
            <a:extLst>
              <a:ext uri="{FF2B5EF4-FFF2-40B4-BE49-F238E27FC236}">
                <a16:creationId xmlns:a16="http://schemas.microsoft.com/office/drawing/2014/main" id="{B97E8CB5-8785-16A7-1306-E236561D7AF1}"/>
              </a:ext>
            </a:extLst>
          </p:cNvPr>
          <p:cNvSpPr>
            <a:spLocks noGrp="1"/>
          </p:cNvSpPr>
          <p:nvPr>
            <p:ph type="sldNum" sz="quarter" idx="12"/>
          </p:nvPr>
        </p:nvSpPr>
        <p:spPr/>
        <p:txBody>
          <a:bodyPr/>
          <a:lstStyle/>
          <a:p>
            <a:fld id="{2DE90F28-AFBB-4AB2-AA79-6D3F72ED131B}" type="slidenum">
              <a:rPr lang="en-US" smtClean="0"/>
              <a:pPr/>
              <a:t>13</a:t>
            </a:fld>
            <a:endParaRPr lang="en-US"/>
          </a:p>
        </p:txBody>
      </p:sp>
      <p:sp>
        <p:nvSpPr>
          <p:cNvPr id="7" name="Rectangle: Rounded Corners 6">
            <a:extLst>
              <a:ext uri="{FF2B5EF4-FFF2-40B4-BE49-F238E27FC236}">
                <a16:creationId xmlns:a16="http://schemas.microsoft.com/office/drawing/2014/main" id="{7C468857-12F0-296C-60A3-33E20F18D4A3}"/>
              </a:ext>
            </a:extLst>
          </p:cNvPr>
          <p:cNvSpPr/>
          <p:nvPr/>
        </p:nvSpPr>
        <p:spPr>
          <a:xfrm>
            <a:off x="545757" y="2173970"/>
            <a:ext cx="1709351" cy="628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t>Detect Regions of Interest (ROI)</a:t>
            </a:r>
          </a:p>
        </p:txBody>
      </p:sp>
      <p:sp>
        <p:nvSpPr>
          <p:cNvPr id="8" name="Rectangle: Rounded Corners 7">
            <a:extLst>
              <a:ext uri="{FF2B5EF4-FFF2-40B4-BE49-F238E27FC236}">
                <a16:creationId xmlns:a16="http://schemas.microsoft.com/office/drawing/2014/main" id="{4799262C-3138-606E-9A15-B539BEEFE59B}"/>
              </a:ext>
            </a:extLst>
          </p:cNvPr>
          <p:cNvSpPr/>
          <p:nvPr/>
        </p:nvSpPr>
        <p:spPr>
          <a:xfrm>
            <a:off x="2564027" y="2173970"/>
            <a:ext cx="1709351" cy="628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Threshold Utilizing Otsu's Technique</a:t>
            </a:r>
          </a:p>
        </p:txBody>
      </p:sp>
      <p:sp>
        <p:nvSpPr>
          <p:cNvPr id="9" name="Rectangle: Rounded Corners 8">
            <a:extLst>
              <a:ext uri="{FF2B5EF4-FFF2-40B4-BE49-F238E27FC236}">
                <a16:creationId xmlns:a16="http://schemas.microsoft.com/office/drawing/2014/main" id="{F888A7FD-9A55-FAC0-8F96-92F82C907755}"/>
              </a:ext>
            </a:extLst>
          </p:cNvPr>
          <p:cNvSpPr/>
          <p:nvPr/>
        </p:nvSpPr>
        <p:spPr>
          <a:xfrm>
            <a:off x="4589161" y="2173970"/>
            <a:ext cx="1709351" cy="628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Identify &amp; Label Connected Pixels</a:t>
            </a:r>
          </a:p>
        </p:txBody>
      </p:sp>
      <p:sp>
        <p:nvSpPr>
          <p:cNvPr id="10" name="Rectangle: Rounded Corners 9">
            <a:extLst>
              <a:ext uri="{FF2B5EF4-FFF2-40B4-BE49-F238E27FC236}">
                <a16:creationId xmlns:a16="http://schemas.microsoft.com/office/drawing/2014/main" id="{1F43EE9D-34D5-70FD-714B-8077104BF002}"/>
              </a:ext>
            </a:extLst>
          </p:cNvPr>
          <p:cNvSpPr/>
          <p:nvPr/>
        </p:nvSpPr>
        <p:spPr>
          <a:xfrm>
            <a:off x="6607430" y="2160239"/>
            <a:ext cx="1709351" cy="628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Trace Detection &amp; Waveform Reconstruction</a:t>
            </a:r>
          </a:p>
        </p:txBody>
      </p:sp>
      <p:sp>
        <p:nvSpPr>
          <p:cNvPr id="11" name="Rectangle: Rounded Corners 10">
            <a:extLst>
              <a:ext uri="{FF2B5EF4-FFF2-40B4-BE49-F238E27FC236}">
                <a16:creationId xmlns:a16="http://schemas.microsoft.com/office/drawing/2014/main" id="{A1EA8ED5-13FB-0A34-99A8-3D4E47D9948A}"/>
              </a:ext>
            </a:extLst>
          </p:cNvPr>
          <p:cNvSpPr/>
          <p:nvPr/>
        </p:nvSpPr>
        <p:spPr>
          <a:xfrm>
            <a:off x="8591377" y="2160239"/>
            <a:ext cx="1709351" cy="628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Post-Processing</a:t>
            </a:r>
          </a:p>
        </p:txBody>
      </p:sp>
      <p:sp>
        <p:nvSpPr>
          <p:cNvPr id="12" name="Arrow: Right 11">
            <a:extLst>
              <a:ext uri="{FF2B5EF4-FFF2-40B4-BE49-F238E27FC236}">
                <a16:creationId xmlns:a16="http://schemas.microsoft.com/office/drawing/2014/main" id="{FDB7B8D7-1C4C-EBBD-D76D-24B1C00EB0B4}"/>
              </a:ext>
            </a:extLst>
          </p:cNvPr>
          <p:cNvSpPr/>
          <p:nvPr/>
        </p:nvSpPr>
        <p:spPr>
          <a:xfrm>
            <a:off x="2330621" y="2469159"/>
            <a:ext cx="144162" cy="1853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7769D31D-B826-4AEE-39BD-1641C5306AFC}"/>
              </a:ext>
            </a:extLst>
          </p:cNvPr>
          <p:cNvSpPr/>
          <p:nvPr/>
        </p:nvSpPr>
        <p:spPr>
          <a:xfrm>
            <a:off x="4362621" y="2469159"/>
            <a:ext cx="144162" cy="1853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16963903-9D4C-08BE-A17C-6BD720D76CF3}"/>
              </a:ext>
            </a:extLst>
          </p:cNvPr>
          <p:cNvSpPr/>
          <p:nvPr/>
        </p:nvSpPr>
        <p:spPr>
          <a:xfrm>
            <a:off x="6380892" y="2469158"/>
            <a:ext cx="144162" cy="1853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B6B3FD1A-4BAB-8146-054E-8C47B5318F6C}"/>
              </a:ext>
            </a:extLst>
          </p:cNvPr>
          <p:cNvSpPr/>
          <p:nvPr/>
        </p:nvSpPr>
        <p:spPr>
          <a:xfrm>
            <a:off x="8371701" y="2469159"/>
            <a:ext cx="144162" cy="1853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5B18EF7-49B1-6B58-9D3C-F4DDFD35D427}"/>
              </a:ext>
            </a:extLst>
          </p:cNvPr>
          <p:cNvSpPr txBox="1"/>
          <p:nvPr/>
        </p:nvSpPr>
        <p:spPr>
          <a:xfrm>
            <a:off x="525161" y="3076700"/>
            <a:ext cx="1678459" cy="25640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9" name="TextBox 18">
            <a:extLst>
              <a:ext uri="{FF2B5EF4-FFF2-40B4-BE49-F238E27FC236}">
                <a16:creationId xmlns:a16="http://schemas.microsoft.com/office/drawing/2014/main" id="{844CED60-F462-31B6-ED13-93FDD416603E}"/>
              </a:ext>
            </a:extLst>
          </p:cNvPr>
          <p:cNvSpPr txBox="1"/>
          <p:nvPr/>
        </p:nvSpPr>
        <p:spPr>
          <a:xfrm>
            <a:off x="2557161" y="3104159"/>
            <a:ext cx="1678459" cy="25640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1" name="TextBox 20">
            <a:extLst>
              <a:ext uri="{FF2B5EF4-FFF2-40B4-BE49-F238E27FC236}">
                <a16:creationId xmlns:a16="http://schemas.microsoft.com/office/drawing/2014/main" id="{0EF259BF-15CF-74B7-6980-FC68EE9FFBDF}"/>
              </a:ext>
            </a:extLst>
          </p:cNvPr>
          <p:cNvSpPr txBox="1"/>
          <p:nvPr/>
        </p:nvSpPr>
        <p:spPr>
          <a:xfrm>
            <a:off x="532027" y="3111024"/>
            <a:ext cx="172994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Scan image for pixel variation</a:t>
            </a:r>
          </a:p>
          <a:p>
            <a:pPr marL="285750" indent="-285750">
              <a:buFont typeface="Arial"/>
              <a:buChar char="•"/>
            </a:pPr>
            <a:r>
              <a:rPr lang="en-US"/>
              <a:t>Detect peaks</a:t>
            </a:r>
          </a:p>
          <a:p>
            <a:pPr marL="285750" indent="-285750">
              <a:buFont typeface="Arial"/>
              <a:buChar char="•"/>
            </a:pPr>
            <a:r>
              <a:rPr lang="en-US"/>
              <a:t>Create bounding boxes around each peak</a:t>
            </a:r>
          </a:p>
        </p:txBody>
      </p:sp>
      <p:sp>
        <p:nvSpPr>
          <p:cNvPr id="22" name="TextBox 21">
            <a:extLst>
              <a:ext uri="{FF2B5EF4-FFF2-40B4-BE49-F238E27FC236}">
                <a16:creationId xmlns:a16="http://schemas.microsoft.com/office/drawing/2014/main" id="{D38F137F-C041-FE73-56CE-2E36821BFDC3}"/>
              </a:ext>
            </a:extLst>
          </p:cNvPr>
          <p:cNvSpPr txBox="1"/>
          <p:nvPr/>
        </p:nvSpPr>
        <p:spPr>
          <a:xfrm>
            <a:off x="2557162" y="3111024"/>
            <a:ext cx="172994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Crop &amp; invert each ROI</a:t>
            </a:r>
          </a:p>
          <a:p>
            <a:pPr marL="285750" indent="-285750">
              <a:buFont typeface="Arial"/>
              <a:buChar char="•"/>
            </a:pPr>
            <a:r>
              <a:rPr lang="en-US"/>
              <a:t>Apply </a:t>
            </a:r>
            <a:r>
              <a:rPr lang="en-US" err="1"/>
              <a:t>Ostu's</a:t>
            </a:r>
            <a:r>
              <a:rPr lang="en-US"/>
              <a:t> Technique to get a back &amp; foreground</a:t>
            </a:r>
          </a:p>
          <a:p>
            <a:pPr marL="285750" indent="-285750">
              <a:buFont typeface="Arial"/>
              <a:buChar char="•"/>
            </a:pPr>
            <a:r>
              <a:rPr lang="en-US"/>
              <a:t>Binarize Image</a:t>
            </a:r>
          </a:p>
        </p:txBody>
      </p:sp>
      <p:sp>
        <p:nvSpPr>
          <p:cNvPr id="23" name="TextBox 22">
            <a:extLst>
              <a:ext uri="{FF2B5EF4-FFF2-40B4-BE49-F238E27FC236}">
                <a16:creationId xmlns:a16="http://schemas.microsoft.com/office/drawing/2014/main" id="{9ADF72AD-0ABB-069B-A250-29B7D3147920}"/>
              </a:ext>
            </a:extLst>
          </p:cNvPr>
          <p:cNvSpPr txBox="1"/>
          <p:nvPr/>
        </p:nvSpPr>
        <p:spPr>
          <a:xfrm>
            <a:off x="4589162" y="3111024"/>
            <a:ext cx="172994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Find connected pixel groups</a:t>
            </a:r>
          </a:p>
          <a:p>
            <a:pPr marL="285750" indent="-285750">
              <a:buFont typeface="Arial"/>
              <a:buChar char="•"/>
            </a:pPr>
            <a:r>
              <a:rPr lang="en-US"/>
              <a:t>Label separate image objects</a:t>
            </a:r>
          </a:p>
          <a:p>
            <a:pPr marL="285750" indent="-285750">
              <a:buFont typeface="Arial"/>
              <a:buChar char="•"/>
            </a:pPr>
            <a:r>
              <a:rPr lang="en-US"/>
              <a:t>Remove noise components</a:t>
            </a:r>
          </a:p>
        </p:txBody>
      </p:sp>
      <p:sp>
        <p:nvSpPr>
          <p:cNvPr id="24" name="TextBox 23">
            <a:extLst>
              <a:ext uri="{FF2B5EF4-FFF2-40B4-BE49-F238E27FC236}">
                <a16:creationId xmlns:a16="http://schemas.microsoft.com/office/drawing/2014/main" id="{F9C7F0EB-2237-C3E4-6391-A93722A90B41}"/>
              </a:ext>
            </a:extLst>
          </p:cNvPr>
          <p:cNvSpPr txBox="1"/>
          <p:nvPr/>
        </p:nvSpPr>
        <p:spPr>
          <a:xfrm>
            <a:off x="6611668" y="3103485"/>
            <a:ext cx="210860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Line detection using Hough Transform</a:t>
            </a:r>
          </a:p>
          <a:p>
            <a:pPr marL="285750" indent="-285750">
              <a:buFont typeface="Arial"/>
              <a:buChar char="•"/>
            </a:pPr>
            <a:r>
              <a:rPr lang="en-US"/>
              <a:t>Estimate ECG signal centerline </a:t>
            </a:r>
          </a:p>
          <a:p>
            <a:pPr marL="285750" indent="-285750">
              <a:buFont typeface="Arial"/>
              <a:buChar char="•"/>
            </a:pPr>
            <a:r>
              <a:rPr lang="en-US"/>
              <a:t>Iteratively include adjacent pixels to trace signal</a:t>
            </a:r>
          </a:p>
        </p:txBody>
      </p:sp>
      <p:sp>
        <p:nvSpPr>
          <p:cNvPr id="25" name="TextBox 24">
            <a:extLst>
              <a:ext uri="{FF2B5EF4-FFF2-40B4-BE49-F238E27FC236}">
                <a16:creationId xmlns:a16="http://schemas.microsoft.com/office/drawing/2014/main" id="{2BCD38BE-D846-7100-8FF6-F582EE97D79C}"/>
              </a:ext>
            </a:extLst>
          </p:cNvPr>
          <p:cNvSpPr txBox="1"/>
          <p:nvPr/>
        </p:nvSpPr>
        <p:spPr>
          <a:xfrm>
            <a:off x="8591945" y="3111591"/>
            <a:ext cx="228860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Linear interpolation to estimate missing values</a:t>
            </a:r>
          </a:p>
          <a:p>
            <a:pPr marL="285750" indent="-285750">
              <a:buFont typeface="Arial"/>
              <a:buChar char="•"/>
            </a:pPr>
            <a:r>
              <a:rPr lang="en-US"/>
              <a:t>Smooth digitized waveform</a:t>
            </a:r>
          </a:p>
          <a:p>
            <a:pPr marL="285750" indent="-285750">
              <a:buFont typeface="Arial"/>
              <a:buChar char="•"/>
            </a:pPr>
            <a:r>
              <a:rPr lang="en-US"/>
              <a:t>Preserve major ECG peaks</a:t>
            </a:r>
          </a:p>
        </p:txBody>
      </p:sp>
    </p:spTree>
    <p:extLst>
      <p:ext uri="{BB962C8B-B14F-4D97-AF65-F5344CB8AC3E}">
        <p14:creationId xmlns:p14="http://schemas.microsoft.com/office/powerpoint/2010/main" val="532691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24F6-22BF-2080-028F-206E53014308}"/>
              </a:ext>
            </a:extLst>
          </p:cNvPr>
          <p:cNvSpPr>
            <a:spLocks noGrp="1"/>
          </p:cNvSpPr>
          <p:nvPr>
            <p:ph type="title"/>
          </p:nvPr>
        </p:nvSpPr>
        <p:spPr>
          <a:xfrm>
            <a:off x="677334" y="609600"/>
            <a:ext cx="8596668" cy="666541"/>
          </a:xfrm>
        </p:spPr>
        <p:txBody>
          <a:bodyPr/>
          <a:lstStyle/>
          <a:p>
            <a:r>
              <a:rPr lang="en-US"/>
              <a:t>SignalSavants – University of Oxford</a:t>
            </a:r>
          </a:p>
        </p:txBody>
      </p:sp>
      <p:sp>
        <p:nvSpPr>
          <p:cNvPr id="4" name="Date Placeholder 3">
            <a:extLst>
              <a:ext uri="{FF2B5EF4-FFF2-40B4-BE49-F238E27FC236}">
                <a16:creationId xmlns:a16="http://schemas.microsoft.com/office/drawing/2014/main" id="{D7789A40-7B2A-5900-50EB-06DBF598BF04}"/>
              </a:ext>
            </a:extLst>
          </p:cNvPr>
          <p:cNvSpPr>
            <a:spLocks noGrp="1"/>
          </p:cNvSpPr>
          <p:nvPr>
            <p:ph type="dt" sz="half" idx="10"/>
          </p:nvPr>
        </p:nvSpPr>
        <p:spPr/>
        <p:txBody>
          <a:bodyPr/>
          <a:lstStyle/>
          <a:p>
            <a:fld id="{CC72F501-7E17-4292-91DC-6DEBF0016298}" type="datetime1">
              <a:rPr lang="en-US"/>
              <a:t>10/29/26</a:t>
            </a:fld>
            <a:endParaRPr lang="en-US"/>
          </a:p>
        </p:txBody>
      </p:sp>
      <p:sp>
        <p:nvSpPr>
          <p:cNvPr id="5" name="Footer Placeholder 4">
            <a:extLst>
              <a:ext uri="{FF2B5EF4-FFF2-40B4-BE49-F238E27FC236}">
                <a16:creationId xmlns:a16="http://schemas.microsoft.com/office/drawing/2014/main" id="{0CE3431A-8EB5-7DFA-EFFE-1948CDA3EB6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FE48985-DBD3-E613-ADB2-7831D84FC322}"/>
              </a:ext>
            </a:extLst>
          </p:cNvPr>
          <p:cNvSpPr>
            <a:spLocks noGrp="1"/>
          </p:cNvSpPr>
          <p:nvPr>
            <p:ph type="sldNum" sz="quarter" idx="12"/>
          </p:nvPr>
        </p:nvSpPr>
        <p:spPr/>
        <p:txBody>
          <a:bodyPr/>
          <a:lstStyle/>
          <a:p>
            <a:fld id="{2DE90F28-AFBB-4AB2-AA79-6D3F72ED131B}" type="slidenum">
              <a:rPr lang="en-US" smtClean="0"/>
              <a:pPr/>
              <a:t>14</a:t>
            </a:fld>
            <a:endParaRPr lang="en-US"/>
          </a:p>
        </p:txBody>
      </p:sp>
      <p:sp>
        <p:nvSpPr>
          <p:cNvPr id="7" name="内容占位符 2">
            <a:extLst>
              <a:ext uri="{FF2B5EF4-FFF2-40B4-BE49-F238E27FC236}">
                <a16:creationId xmlns:a16="http://schemas.microsoft.com/office/drawing/2014/main" id="{23EFCB0C-6878-4BFF-4F1D-444F1B60DA8B}"/>
              </a:ext>
            </a:extLst>
          </p:cNvPr>
          <p:cNvSpPr txBox="1">
            <a:spLocks/>
          </p:cNvSpPr>
          <p:nvPr/>
        </p:nvSpPr>
        <p:spPr>
          <a:xfrm>
            <a:off x="677334" y="1276141"/>
            <a:ext cx="10676023" cy="598197"/>
          </a:xfrm>
          <a:prstGeom prst="rect">
            <a:avLst/>
          </a:prstGeom>
          <a:noFill/>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400"/>
              </a:spcBef>
              <a:buFont typeface="Wingdings 3" charset="2"/>
              <a:buNone/>
            </a:pPr>
            <a:r>
              <a:rPr lang="en-US" altLang="zh-CN" sz="1400" b="1">
                <a:ea typeface="+mn-lt"/>
                <a:cs typeface="Times New Roman"/>
              </a:rPr>
              <a:t>PhysioNet Challenge 2024 • Digitization task: SNR 12.15, 1st place of 16 teams</a:t>
            </a:r>
            <a:endParaRPr lang="en-US" altLang="zh-CN" sz="1400" b="1">
              <a:ea typeface="华文新魏"/>
              <a:cs typeface="Times New Roman"/>
            </a:endParaRPr>
          </a:p>
          <a:p>
            <a:pPr marL="0" indent="0">
              <a:spcBef>
                <a:spcPts val="400"/>
              </a:spcBef>
              <a:buFont typeface="Wingdings 3" charset="2"/>
              <a:buNone/>
            </a:pPr>
            <a:r>
              <a:rPr lang="en-US" altLang="zh-CN" sz="1400">
                <a:ea typeface="+mn-lt"/>
                <a:cs typeface="+mn-lt"/>
              </a:rPr>
              <a:t>Three-stage pipeline of rotations, segmentation, and vectorization</a:t>
            </a:r>
            <a:endParaRPr lang="zh-CN" altLang="en-US" sz="1400">
              <a:ea typeface="华文新魏"/>
            </a:endParaRPr>
          </a:p>
          <a:p>
            <a:pPr>
              <a:spcBef>
                <a:spcPts val="400"/>
              </a:spcBef>
            </a:pPr>
            <a:endParaRPr lang="zh-CN" altLang="en-US">
              <a:ea typeface="华文新魏"/>
            </a:endParaRPr>
          </a:p>
        </p:txBody>
      </p:sp>
      <p:sp>
        <p:nvSpPr>
          <p:cNvPr id="10" name="Rounded Rectangle 9">
            <a:extLst>
              <a:ext uri="{FF2B5EF4-FFF2-40B4-BE49-F238E27FC236}">
                <a16:creationId xmlns:a16="http://schemas.microsoft.com/office/drawing/2014/main" id="{450C25DF-0032-CBCD-49C5-E7098F0DCEE8}"/>
              </a:ext>
            </a:extLst>
          </p:cNvPr>
          <p:cNvSpPr/>
          <p:nvPr/>
        </p:nvSpPr>
        <p:spPr>
          <a:xfrm>
            <a:off x="677334" y="2258364"/>
            <a:ext cx="2850000" cy="261561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t"/>
          <a:lstStyle/>
          <a:p>
            <a:pPr algn="ctr"/>
            <a:endParaRPr lang="en-US" sz="800">
              <a:solidFill>
                <a:schemeClr val="accent1"/>
              </a:solidFill>
              <a:latin typeface="+mj-lt"/>
              <a:ea typeface="+mj-ea"/>
              <a:cs typeface="+mj-cs"/>
            </a:endParaRPr>
          </a:p>
          <a:p>
            <a:pPr algn="ctr"/>
            <a:r>
              <a:rPr>
                <a:solidFill>
                  <a:schemeClr val="accent1"/>
                </a:solidFill>
                <a:latin typeface="+mj-lt"/>
                <a:ea typeface="+mj-ea"/>
                <a:cs typeface="+mj-cs"/>
              </a:rPr>
              <a:t>Rotate</a:t>
            </a:r>
            <a:endParaRPr lang="en-US">
              <a:solidFill>
                <a:schemeClr val="accent1"/>
              </a:solidFill>
              <a:latin typeface="+mj-lt"/>
              <a:ea typeface="+mj-ea"/>
              <a:cs typeface="+mj-cs"/>
            </a:endParaRPr>
          </a:p>
          <a:p>
            <a:pPr algn="ctr"/>
            <a:endParaRPr>
              <a:solidFill>
                <a:schemeClr val="accent1"/>
              </a:solidFill>
              <a:latin typeface="+mj-lt"/>
              <a:ea typeface="+mj-ea"/>
              <a:cs typeface="+mj-cs"/>
            </a:endParaRPr>
          </a:p>
          <a:p>
            <a:pPr marL="285750" indent="-285750" algn="l">
              <a:spcBef>
                <a:spcPts val="600"/>
              </a:spcBef>
              <a:buFont typeface="Arial" panose="020B0604020202020204" pitchFamily="34" charset="0"/>
              <a:buChar char="•"/>
            </a:pPr>
            <a:r>
              <a:rPr sz="1400">
                <a:solidFill>
                  <a:srgbClr val="1A1A1A"/>
                </a:solidFill>
              </a:rPr>
              <a:t>OpenCV Hough Transform detects line angles</a:t>
            </a:r>
          </a:p>
          <a:p>
            <a:pPr marL="285750" indent="-285750" algn="l">
              <a:spcBef>
                <a:spcPts val="600"/>
              </a:spcBef>
              <a:buFont typeface="Arial" panose="020B0604020202020204" pitchFamily="34" charset="0"/>
              <a:buChar char="•"/>
            </a:pPr>
            <a:r>
              <a:rPr sz="1400">
                <a:solidFill>
                  <a:srgbClr val="1A1A1A"/>
                </a:solidFill>
              </a:rPr>
              <a:t>Straightens the image</a:t>
            </a:r>
          </a:p>
          <a:p>
            <a:pPr marL="285750" indent="-285750" algn="l">
              <a:spcBef>
                <a:spcPts val="600"/>
              </a:spcBef>
              <a:buFont typeface="Arial" panose="020B0604020202020204" pitchFamily="34" charset="0"/>
              <a:buChar char="•"/>
            </a:pPr>
            <a:r>
              <a:rPr sz="1400">
                <a:solidFill>
                  <a:srgbClr val="1A1A1A"/>
                </a:solidFill>
              </a:rPr>
              <a:t>99.7% accurate</a:t>
            </a:r>
          </a:p>
        </p:txBody>
      </p:sp>
      <p:sp>
        <p:nvSpPr>
          <p:cNvPr id="11" name="Rounded Rectangle 10">
            <a:extLst>
              <a:ext uri="{FF2B5EF4-FFF2-40B4-BE49-F238E27FC236}">
                <a16:creationId xmlns:a16="http://schemas.microsoft.com/office/drawing/2014/main" id="{1C3B8107-14C7-182B-519F-7FBA7E0E64EA}"/>
              </a:ext>
            </a:extLst>
          </p:cNvPr>
          <p:cNvSpPr/>
          <p:nvPr/>
        </p:nvSpPr>
        <p:spPr>
          <a:xfrm>
            <a:off x="4580942" y="2258364"/>
            <a:ext cx="2850000" cy="261561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t"/>
          <a:lstStyle/>
          <a:p>
            <a:pPr algn="ctr"/>
            <a:endParaRPr lang="en-US" sz="800">
              <a:solidFill>
                <a:schemeClr val="accent1"/>
              </a:solidFill>
              <a:latin typeface="+mj-lt"/>
              <a:ea typeface="+mj-ea"/>
              <a:cs typeface="+mj-cs"/>
            </a:endParaRPr>
          </a:p>
          <a:p>
            <a:pPr algn="ctr"/>
            <a:r>
              <a:rPr>
                <a:solidFill>
                  <a:schemeClr val="accent1"/>
                </a:solidFill>
                <a:latin typeface="+mj-lt"/>
                <a:ea typeface="+mj-ea"/>
                <a:cs typeface="+mj-cs"/>
              </a:rPr>
              <a:t>Segment</a:t>
            </a:r>
            <a:endParaRPr lang="en-US">
              <a:solidFill>
                <a:schemeClr val="accent1"/>
              </a:solidFill>
              <a:latin typeface="+mj-lt"/>
              <a:ea typeface="+mj-ea"/>
              <a:cs typeface="+mj-cs"/>
            </a:endParaRPr>
          </a:p>
          <a:p>
            <a:pPr algn="ctr"/>
            <a:endParaRPr>
              <a:solidFill>
                <a:schemeClr val="accent1"/>
              </a:solidFill>
              <a:latin typeface="+mj-lt"/>
              <a:ea typeface="+mj-ea"/>
              <a:cs typeface="+mj-cs"/>
            </a:endParaRPr>
          </a:p>
          <a:p>
            <a:pPr marL="285750" indent="-285750" algn="l">
              <a:spcBef>
                <a:spcPts val="600"/>
              </a:spcBef>
              <a:buFont typeface="Arial" panose="020B0604020202020204" pitchFamily="34" charset="0"/>
              <a:buChar char="•"/>
            </a:pPr>
            <a:r>
              <a:rPr sz="1400">
                <a:solidFill>
                  <a:srgbClr val="1A1A1A"/>
                </a:solidFill>
              </a:rPr>
              <a:t>nnU-Net predicts a per-pixel mask</a:t>
            </a:r>
          </a:p>
          <a:p>
            <a:pPr marL="285750" indent="-285750" algn="l">
              <a:spcBef>
                <a:spcPts val="600"/>
              </a:spcBef>
              <a:buFont typeface="Arial" panose="020B0604020202020204" pitchFamily="34" charset="0"/>
              <a:buChar char="•"/>
            </a:pPr>
            <a:r>
              <a:rPr sz="1400">
                <a:solidFill>
                  <a:srgbClr val="1A1A1A"/>
                </a:solidFill>
              </a:rPr>
              <a:t>One mask per signal trace</a:t>
            </a:r>
          </a:p>
        </p:txBody>
      </p:sp>
      <p:sp>
        <p:nvSpPr>
          <p:cNvPr id="12" name="Rounded Rectangle 11">
            <a:extLst>
              <a:ext uri="{FF2B5EF4-FFF2-40B4-BE49-F238E27FC236}">
                <a16:creationId xmlns:a16="http://schemas.microsoft.com/office/drawing/2014/main" id="{C0236FA6-E0D6-FFF7-5C06-28E190DE805A}"/>
              </a:ext>
            </a:extLst>
          </p:cNvPr>
          <p:cNvSpPr/>
          <p:nvPr/>
        </p:nvSpPr>
        <p:spPr>
          <a:xfrm>
            <a:off x="8484551" y="2258364"/>
            <a:ext cx="2850000" cy="2615616"/>
          </a:xfrm>
          <a:prstGeom prst="roundRect">
            <a:avLst/>
          </a:prstGeom>
          <a:solidFill>
            <a:schemeClr val="bg1"/>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wrap="square" lIns="90000" tIns="90000" rIns="90000" rtlCol="0" anchor="t"/>
          <a:lstStyle/>
          <a:p>
            <a:pPr algn="ctr"/>
            <a:endParaRPr lang="en-US" sz="800">
              <a:solidFill>
                <a:schemeClr val="accent1"/>
              </a:solidFill>
              <a:latin typeface="+mj-lt"/>
              <a:ea typeface="+mj-ea"/>
              <a:cs typeface="+mj-cs"/>
            </a:endParaRPr>
          </a:p>
          <a:p>
            <a:pPr algn="ctr"/>
            <a:r>
              <a:rPr>
                <a:solidFill>
                  <a:schemeClr val="accent1"/>
                </a:solidFill>
                <a:latin typeface="+mj-lt"/>
                <a:ea typeface="+mj-ea"/>
                <a:cs typeface="+mj-cs"/>
              </a:rPr>
              <a:t>Vectorize</a:t>
            </a:r>
            <a:endParaRPr lang="en-US">
              <a:solidFill>
                <a:schemeClr val="accent1"/>
              </a:solidFill>
              <a:latin typeface="+mj-lt"/>
              <a:ea typeface="+mj-ea"/>
              <a:cs typeface="+mj-cs"/>
            </a:endParaRPr>
          </a:p>
          <a:p>
            <a:pPr algn="ctr"/>
            <a:endParaRPr>
              <a:solidFill>
                <a:schemeClr val="accent1"/>
              </a:solidFill>
              <a:latin typeface="+mj-lt"/>
              <a:ea typeface="+mj-ea"/>
              <a:cs typeface="+mj-cs"/>
            </a:endParaRPr>
          </a:p>
          <a:p>
            <a:pPr marL="285750" indent="-285750" algn="l">
              <a:spcBef>
                <a:spcPts val="600"/>
              </a:spcBef>
              <a:buFont typeface="Arial" panose="020B0604020202020204" pitchFamily="34" charset="0"/>
              <a:buChar char="•"/>
            </a:pPr>
            <a:r>
              <a:rPr sz="1400">
                <a:solidFill>
                  <a:srgbClr val="1A1A1A"/>
                </a:solidFill>
              </a:rPr>
              <a:t>Average mask pixel position per column</a:t>
            </a:r>
          </a:p>
          <a:p>
            <a:pPr marL="285750" indent="-285750" algn="l">
              <a:spcBef>
                <a:spcPts val="600"/>
              </a:spcBef>
              <a:buFont typeface="Arial" panose="020B0604020202020204" pitchFamily="34" charset="0"/>
              <a:buChar char="•"/>
            </a:pPr>
            <a:r>
              <a:rPr sz="1400">
                <a:solidFill>
                  <a:srgbClr val="1A1A1A"/>
                </a:solidFill>
              </a:rPr>
              <a:t>Rescale using grid calibration</a:t>
            </a:r>
          </a:p>
        </p:txBody>
      </p:sp>
      <p:sp>
        <p:nvSpPr>
          <p:cNvPr id="13" name="Right Arrow 12">
            <a:extLst>
              <a:ext uri="{FF2B5EF4-FFF2-40B4-BE49-F238E27FC236}">
                <a16:creationId xmlns:a16="http://schemas.microsoft.com/office/drawing/2014/main" id="{6970FAAC-7D2F-7F30-B2E7-21A51F76EF14}"/>
              </a:ext>
            </a:extLst>
          </p:cNvPr>
          <p:cNvSpPr/>
          <p:nvPr/>
        </p:nvSpPr>
        <p:spPr>
          <a:xfrm>
            <a:off x="3807334" y="3337077"/>
            <a:ext cx="543539" cy="300000"/>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a:extLst>
              <a:ext uri="{FF2B5EF4-FFF2-40B4-BE49-F238E27FC236}">
                <a16:creationId xmlns:a16="http://schemas.microsoft.com/office/drawing/2014/main" id="{16FBFFF6-112F-2983-7F37-6DF062FB03A7}"/>
              </a:ext>
            </a:extLst>
          </p:cNvPr>
          <p:cNvSpPr/>
          <p:nvPr/>
        </p:nvSpPr>
        <p:spPr>
          <a:xfrm>
            <a:off x="7685977" y="3337077"/>
            <a:ext cx="543539" cy="300000"/>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B4BC016-A34A-9CBF-7B5A-76D2377ABA1C}"/>
              </a:ext>
            </a:extLst>
          </p:cNvPr>
          <p:cNvSpPr txBox="1"/>
          <p:nvPr/>
        </p:nvSpPr>
        <p:spPr>
          <a:xfrm>
            <a:off x="338668" y="5159593"/>
            <a:ext cx="9126880" cy="567143"/>
          </a:xfrm>
          <a:prstGeom prst="rect">
            <a:avLst/>
          </a:prstGeom>
          <a:noFill/>
        </p:spPr>
        <p:txBody>
          <a:bodyPr wrap="square">
            <a:spAutoFit/>
          </a:bodyPr>
          <a:lstStyle/>
          <a:p>
            <a:pPr marL="285750" indent="-285750" algn="l">
              <a:lnSpc>
                <a:spcPct val="115000"/>
              </a:lnSpc>
              <a:buFont typeface="Arial" panose="020B0604020202020204" pitchFamily="34" charset="0"/>
              <a:buChar char="•"/>
            </a:pPr>
            <a:r>
              <a:rPr lang="en-US" sz="1400">
                <a:solidFill>
                  <a:srgbClr val="1A1A1A"/>
                </a:solidFill>
              </a:rPr>
              <a:t>Training images were self-generated from PTB-XL via ECG-Image-Kit, with 4+ augmented variants per signal</a:t>
            </a:r>
          </a:p>
          <a:p>
            <a:pPr marL="285750" indent="-285750" algn="l">
              <a:lnSpc>
                <a:spcPct val="115000"/>
              </a:lnSpc>
              <a:buFont typeface="Arial" panose="020B0604020202020204" pitchFamily="34" charset="0"/>
              <a:buChar char="•"/>
            </a:pPr>
            <a:r>
              <a:rPr lang="en-US" sz="1400">
                <a:solidFill>
                  <a:srgbClr val="1A1A1A"/>
                </a:solidFill>
              </a:rPr>
              <a:t>Their winning model used only 20k images and simpler masks. Larger, more complex models overfit</a:t>
            </a:r>
          </a:p>
        </p:txBody>
      </p:sp>
    </p:spTree>
    <p:extLst>
      <p:ext uri="{BB962C8B-B14F-4D97-AF65-F5344CB8AC3E}">
        <p14:creationId xmlns:p14="http://schemas.microsoft.com/office/powerpoint/2010/main" val="17169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68466-548F-2680-7C7C-890CAD2ACF5F}"/>
              </a:ext>
            </a:extLst>
          </p:cNvPr>
          <p:cNvSpPr>
            <a:spLocks noGrp="1"/>
          </p:cNvSpPr>
          <p:nvPr>
            <p:ph type="title"/>
          </p:nvPr>
        </p:nvSpPr>
        <p:spPr>
          <a:xfrm>
            <a:off x="677334" y="393938"/>
            <a:ext cx="8596668" cy="1320800"/>
          </a:xfrm>
        </p:spPr>
        <p:txBody>
          <a:bodyPr/>
          <a:lstStyle/>
          <a:p>
            <a:r>
              <a:rPr lang="en-US"/>
              <a:t>WAVIE Method – University of Auckland</a:t>
            </a:r>
            <a:endParaRPr lang="zh-CN" altLang="en-US">
              <a:ea typeface="方正姚体"/>
            </a:endParaRPr>
          </a:p>
        </p:txBody>
      </p:sp>
      <p:sp>
        <p:nvSpPr>
          <p:cNvPr id="3" name="内容占位符 2">
            <a:extLst>
              <a:ext uri="{FF2B5EF4-FFF2-40B4-BE49-F238E27FC236}">
                <a16:creationId xmlns:a16="http://schemas.microsoft.com/office/drawing/2014/main" id="{118132EC-5739-ECA7-E251-D68F0E0155F2}"/>
              </a:ext>
            </a:extLst>
          </p:cNvPr>
          <p:cNvSpPr>
            <a:spLocks noGrp="1"/>
          </p:cNvSpPr>
          <p:nvPr>
            <p:ph idx="1"/>
          </p:nvPr>
        </p:nvSpPr>
        <p:spPr>
          <a:xfrm>
            <a:off x="677334" y="1087858"/>
            <a:ext cx="10676023" cy="598197"/>
          </a:xfrm>
          <a:noFill/>
        </p:spPr>
        <p:txBody>
          <a:bodyPr vert="horz" lIns="91440" tIns="45720" rIns="91440" bIns="45720" rtlCol="0" anchor="t">
            <a:noAutofit/>
          </a:bodyPr>
          <a:lstStyle/>
          <a:p>
            <a:pPr marL="0" indent="0">
              <a:spcBef>
                <a:spcPts val="400"/>
              </a:spcBef>
              <a:buNone/>
            </a:pPr>
            <a:r>
              <a:rPr lang="en-US" altLang="zh-CN" sz="1400" b="1">
                <a:ea typeface="+mn-lt"/>
                <a:cs typeface="Times New Roman"/>
              </a:rPr>
              <a:t>PhysioNet Challenge 2024 • Digitization task: SNR 5.469, 3rd place of 16 teams</a:t>
            </a:r>
            <a:endParaRPr lang="en-US" altLang="zh-CN" sz="1400" b="1">
              <a:ea typeface="华文新魏"/>
              <a:cs typeface="Times New Roman"/>
            </a:endParaRPr>
          </a:p>
          <a:p>
            <a:pPr marL="0" indent="0">
              <a:spcBef>
                <a:spcPts val="400"/>
              </a:spcBef>
              <a:buNone/>
            </a:pPr>
            <a:r>
              <a:rPr lang="en-US" altLang="zh-CN" sz="1400">
                <a:ea typeface="+mn-lt"/>
                <a:cs typeface="+mn-lt"/>
              </a:rPr>
              <a:t>S</a:t>
            </a:r>
            <a:r>
              <a:rPr lang="zh-CN" sz="1400">
                <a:ea typeface="+mn-lt"/>
                <a:cs typeface="+mn-lt"/>
              </a:rPr>
              <a:t>eparate modules for rotation correction, signal segmentation, lead detection, and signal digitization.</a:t>
            </a:r>
            <a:endParaRPr lang="zh-CN" altLang="en-US" sz="1400">
              <a:ea typeface="华文新魏"/>
            </a:endParaRPr>
          </a:p>
          <a:p>
            <a:pPr>
              <a:spcBef>
                <a:spcPts val="400"/>
              </a:spcBef>
            </a:pPr>
            <a:endParaRPr lang="zh-CN" altLang="en-US">
              <a:ea typeface="华文新魏"/>
            </a:endParaRPr>
          </a:p>
        </p:txBody>
      </p:sp>
      <p:grpSp>
        <p:nvGrpSpPr>
          <p:cNvPr id="13" name="Group 12">
            <a:extLst>
              <a:ext uri="{FF2B5EF4-FFF2-40B4-BE49-F238E27FC236}">
                <a16:creationId xmlns:a16="http://schemas.microsoft.com/office/drawing/2014/main" id="{7EBB69B2-2C3A-36B9-89F7-2490DDC8C508}"/>
              </a:ext>
            </a:extLst>
          </p:cNvPr>
          <p:cNvGrpSpPr/>
          <p:nvPr/>
        </p:nvGrpSpPr>
        <p:grpSpPr>
          <a:xfrm>
            <a:off x="443261" y="1897811"/>
            <a:ext cx="2567210" cy="3687905"/>
            <a:chOff x="443261" y="1897811"/>
            <a:chExt cx="2567210" cy="3687905"/>
          </a:xfrm>
        </p:grpSpPr>
        <p:sp>
          <p:nvSpPr>
            <p:cNvPr id="7" name="矩形: 圆角 6">
              <a:extLst>
                <a:ext uri="{FF2B5EF4-FFF2-40B4-BE49-F238E27FC236}">
                  <a16:creationId xmlns:a16="http://schemas.microsoft.com/office/drawing/2014/main" id="{D5C6227B-391A-0E81-1B85-EAA5FC3F115D}"/>
                </a:ext>
              </a:extLst>
            </p:cNvPr>
            <p:cNvSpPr/>
            <p:nvPr/>
          </p:nvSpPr>
          <p:spPr>
            <a:xfrm>
              <a:off x="444114" y="1897811"/>
              <a:ext cx="2566357" cy="368790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3CB1C97-981B-ECA4-770D-F265B174E75A}"/>
                </a:ext>
              </a:extLst>
            </p:cNvPr>
            <p:cNvSpPr txBox="1"/>
            <p:nvPr/>
          </p:nvSpPr>
          <p:spPr>
            <a:xfrm>
              <a:off x="443261" y="2150877"/>
              <a:ext cx="25663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a:solidFill>
                    <a:schemeClr val="accent1"/>
                  </a:solidFill>
                  <a:latin typeface="Arial"/>
                  <a:ea typeface="+mn-lt"/>
                  <a:cs typeface="Arial"/>
                </a:rPr>
                <a:t>Ro</a:t>
              </a:r>
              <a:r>
                <a:rPr lang="zh-CN">
                  <a:solidFill>
                    <a:schemeClr val="accent1"/>
                  </a:solidFill>
                  <a:latin typeface="Arial"/>
                  <a:ea typeface="+mn-lt"/>
                  <a:cs typeface="Arial"/>
                </a:rPr>
                <a:t>tation </a:t>
              </a:r>
              <a:r>
                <a:rPr lang="en-US" altLang="zh-CN">
                  <a:solidFill>
                    <a:schemeClr val="accent1"/>
                  </a:solidFill>
                  <a:latin typeface="Arial"/>
                  <a:ea typeface="+mn-lt"/>
                  <a:cs typeface="Arial"/>
                </a:rPr>
                <a:t>Correction</a:t>
              </a:r>
              <a:endParaRPr lang="zh-CN" sz="1000">
                <a:solidFill>
                  <a:srgbClr val="000000"/>
                </a:solidFill>
                <a:latin typeface="Arial"/>
                <a:ea typeface="华文新魏"/>
                <a:cs typeface="Arial"/>
              </a:endParaRPr>
            </a:p>
          </p:txBody>
        </p:sp>
        <p:sp>
          <p:nvSpPr>
            <p:cNvPr id="16" name="文本框 15">
              <a:extLst>
                <a:ext uri="{FF2B5EF4-FFF2-40B4-BE49-F238E27FC236}">
                  <a16:creationId xmlns:a16="http://schemas.microsoft.com/office/drawing/2014/main" id="{CC34F226-FAA5-8493-A7E3-EA47849B5D0B}"/>
                </a:ext>
              </a:extLst>
            </p:cNvPr>
            <p:cNvSpPr txBox="1"/>
            <p:nvPr/>
          </p:nvSpPr>
          <p:spPr>
            <a:xfrm>
              <a:off x="550115" y="2691757"/>
              <a:ext cx="2379817" cy="26930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zh-CN" sz="1400">
                  <a:ea typeface="+mn-lt"/>
                  <a:cs typeface="+mn-lt"/>
                </a:rPr>
                <a:t>Deep Image Orientation Angle Detection</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Predict rotation angle θ</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Train with θ ~ N(0, 25.2²), emphasizing realistic small rotations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Apply inverse angle −θ</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Output: standardized image orientation</a:t>
              </a:r>
              <a:endParaRPr lang="zh-CN" sz="1400">
                <a:ea typeface="华文新魏"/>
              </a:endParaRPr>
            </a:p>
            <a:p>
              <a:pPr algn="l">
                <a:spcBef>
                  <a:spcPts val="600"/>
                </a:spcBef>
              </a:pPr>
              <a:endParaRPr lang="zh-CN" altLang="en-US">
                <a:ea typeface="华文新魏"/>
              </a:endParaRPr>
            </a:p>
          </p:txBody>
        </p:sp>
      </p:grpSp>
      <p:grpSp>
        <p:nvGrpSpPr>
          <p:cNvPr id="12" name="Group 11">
            <a:extLst>
              <a:ext uri="{FF2B5EF4-FFF2-40B4-BE49-F238E27FC236}">
                <a16:creationId xmlns:a16="http://schemas.microsoft.com/office/drawing/2014/main" id="{1B3853B9-5207-6E12-0F15-D0BCC3A2CE9A}"/>
              </a:ext>
            </a:extLst>
          </p:cNvPr>
          <p:cNvGrpSpPr/>
          <p:nvPr/>
        </p:nvGrpSpPr>
        <p:grpSpPr>
          <a:xfrm>
            <a:off x="3343556" y="1924698"/>
            <a:ext cx="2555027" cy="3680716"/>
            <a:chOff x="3172643" y="1897810"/>
            <a:chExt cx="2555027" cy="3680716"/>
          </a:xfrm>
        </p:grpSpPr>
        <p:sp>
          <p:nvSpPr>
            <p:cNvPr id="8" name="矩形: 圆角 7">
              <a:extLst>
                <a:ext uri="{FF2B5EF4-FFF2-40B4-BE49-F238E27FC236}">
                  <a16:creationId xmlns:a16="http://schemas.microsoft.com/office/drawing/2014/main" id="{ABBE7F9F-42FB-2A8A-E3BA-255D18567B85}"/>
                </a:ext>
              </a:extLst>
            </p:cNvPr>
            <p:cNvSpPr/>
            <p:nvPr/>
          </p:nvSpPr>
          <p:spPr>
            <a:xfrm>
              <a:off x="3175690" y="1897810"/>
              <a:ext cx="2551980" cy="368071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6AB2EF5-B480-796C-3C50-4F13AAC1B238}"/>
                </a:ext>
              </a:extLst>
            </p:cNvPr>
            <p:cNvSpPr txBox="1"/>
            <p:nvPr/>
          </p:nvSpPr>
          <p:spPr>
            <a:xfrm>
              <a:off x="3172643" y="2131626"/>
              <a:ext cx="25413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solidFill>
                    <a:schemeClr val="accent1"/>
                  </a:solidFill>
                  <a:ea typeface="+mn-lt"/>
                  <a:cs typeface="+mn-lt"/>
                </a:rPr>
                <a:t>Signal </a:t>
              </a:r>
              <a:r>
                <a:rPr lang="en-US" altLang="zh-CN">
                  <a:solidFill>
                    <a:schemeClr val="accent1"/>
                  </a:solidFill>
                  <a:ea typeface="+mn-lt"/>
                  <a:cs typeface="+mn-lt"/>
                </a:rPr>
                <a:t>S</a:t>
              </a:r>
              <a:r>
                <a:rPr lang="zh-CN">
                  <a:solidFill>
                    <a:schemeClr val="accent1"/>
                  </a:solidFill>
                  <a:ea typeface="+mn-lt"/>
                  <a:cs typeface="+mn-lt"/>
                </a:rPr>
                <a:t>egmentation</a:t>
              </a:r>
              <a:endParaRPr lang="zh-CN">
                <a:solidFill>
                  <a:schemeClr val="accent1"/>
                </a:solidFill>
                <a:ea typeface="华文新魏"/>
              </a:endParaRPr>
            </a:p>
          </p:txBody>
        </p:sp>
        <p:sp>
          <p:nvSpPr>
            <p:cNvPr id="18" name="文本框 17">
              <a:extLst>
                <a:ext uri="{FF2B5EF4-FFF2-40B4-BE49-F238E27FC236}">
                  <a16:creationId xmlns:a16="http://schemas.microsoft.com/office/drawing/2014/main" id="{E50A54BC-6B2C-4CCD-6D77-B05179388630}"/>
                </a:ext>
              </a:extLst>
            </p:cNvPr>
            <p:cNvSpPr txBox="1"/>
            <p:nvPr/>
          </p:nvSpPr>
          <p:spPr>
            <a:xfrm>
              <a:off x="3286062" y="2670037"/>
              <a:ext cx="2427960" cy="29084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zh-CN" sz="1400">
                  <a:ea typeface="+mn-lt"/>
                  <a:cs typeface="+mn-lt"/>
                </a:rPr>
                <a:t>2D nnU-Net</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Input: corrected ECG image</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Output: binary mask of all lead signals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250 epochs; initial LR = 0.01 with polyLR</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Augmentations: rotation, downsampling, mirroring</a:t>
              </a:r>
              <a:endParaRPr lang="zh-CN" sz="1400">
                <a:ea typeface="华文新魏"/>
              </a:endParaRPr>
            </a:p>
            <a:p>
              <a:pPr algn="l">
                <a:spcBef>
                  <a:spcPts val="600"/>
                </a:spcBef>
              </a:pPr>
              <a:endParaRPr lang="zh-CN" altLang="en-US">
                <a:ea typeface="华文新魏"/>
              </a:endParaRPr>
            </a:p>
          </p:txBody>
        </p:sp>
      </p:grpSp>
      <p:grpSp>
        <p:nvGrpSpPr>
          <p:cNvPr id="11" name="Group 10">
            <a:extLst>
              <a:ext uri="{FF2B5EF4-FFF2-40B4-BE49-F238E27FC236}">
                <a16:creationId xmlns:a16="http://schemas.microsoft.com/office/drawing/2014/main" id="{4AD75ED4-A26A-D862-7283-558886F16268}"/>
              </a:ext>
            </a:extLst>
          </p:cNvPr>
          <p:cNvGrpSpPr/>
          <p:nvPr/>
        </p:nvGrpSpPr>
        <p:grpSpPr>
          <a:xfrm>
            <a:off x="6233375" y="1919911"/>
            <a:ext cx="2516038" cy="3673528"/>
            <a:chOff x="5902269" y="1904998"/>
            <a:chExt cx="2516038" cy="3673528"/>
          </a:xfrm>
        </p:grpSpPr>
        <p:sp>
          <p:nvSpPr>
            <p:cNvPr id="9" name="矩形: 圆角 8">
              <a:extLst>
                <a:ext uri="{FF2B5EF4-FFF2-40B4-BE49-F238E27FC236}">
                  <a16:creationId xmlns:a16="http://schemas.microsoft.com/office/drawing/2014/main" id="{8FF5F414-1D9E-046E-00A2-96480351B0E8}"/>
                </a:ext>
              </a:extLst>
            </p:cNvPr>
            <p:cNvSpPr/>
            <p:nvPr/>
          </p:nvSpPr>
          <p:spPr>
            <a:xfrm>
              <a:off x="5902269" y="1904998"/>
              <a:ext cx="2516037" cy="367352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57A705DD-4050-5308-92E1-4EA8CCC9F8FB}"/>
                </a:ext>
              </a:extLst>
            </p:cNvPr>
            <p:cNvSpPr txBox="1"/>
            <p:nvPr/>
          </p:nvSpPr>
          <p:spPr>
            <a:xfrm>
              <a:off x="5917769" y="2127849"/>
              <a:ext cx="25005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solidFill>
                    <a:schemeClr val="accent1"/>
                  </a:solidFill>
                  <a:ea typeface="+mn-lt"/>
                  <a:cs typeface="+mn-lt"/>
                </a:rPr>
                <a:t>Lead </a:t>
              </a:r>
              <a:r>
                <a:rPr lang="en-US" altLang="zh-CN">
                  <a:solidFill>
                    <a:schemeClr val="accent1"/>
                  </a:solidFill>
                  <a:ea typeface="+mn-lt"/>
                  <a:cs typeface="+mn-lt"/>
                </a:rPr>
                <a:t>L</a:t>
              </a:r>
              <a:r>
                <a:rPr lang="zh-CN">
                  <a:solidFill>
                    <a:schemeClr val="accent1"/>
                  </a:solidFill>
                  <a:ea typeface="+mn-lt"/>
                  <a:cs typeface="+mn-lt"/>
                </a:rPr>
                <a:t>ocalization</a:t>
              </a:r>
              <a:endParaRPr lang="zh-CN">
                <a:solidFill>
                  <a:schemeClr val="accent1"/>
                </a:solidFill>
                <a:ea typeface="华文新魏"/>
              </a:endParaRPr>
            </a:p>
          </p:txBody>
        </p:sp>
        <p:sp>
          <p:nvSpPr>
            <p:cNvPr id="20" name="文本框 19">
              <a:extLst>
                <a:ext uri="{FF2B5EF4-FFF2-40B4-BE49-F238E27FC236}">
                  <a16:creationId xmlns:a16="http://schemas.microsoft.com/office/drawing/2014/main" id="{44A2B25C-AF7B-8937-6D2C-DE3D8ABEF94A}"/>
                </a:ext>
              </a:extLst>
            </p:cNvPr>
            <p:cNvSpPr txBox="1"/>
            <p:nvPr/>
          </p:nvSpPr>
          <p:spPr>
            <a:xfrm>
              <a:off x="5915916" y="2691757"/>
              <a:ext cx="2502390"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zh-CN" sz="1400">
                  <a:ea typeface="+mn-lt"/>
                  <a:cs typeface="+mn-lt"/>
                </a:rPr>
                <a:t>YOLOv5s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Detect signal bounding boxes and lead-name boxes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Pretrained weights; trained 300 epochs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Post-process to retain 13 boxes: 12 leads + 1 rhythm lead</a:t>
              </a:r>
              <a:endParaRPr lang="zh-CN" sz="1400">
                <a:ea typeface="华文新魏"/>
              </a:endParaRPr>
            </a:p>
            <a:p>
              <a:pPr algn="l">
                <a:spcBef>
                  <a:spcPts val="600"/>
                </a:spcBef>
              </a:pPr>
              <a:endParaRPr lang="zh-CN" altLang="en-US">
                <a:ea typeface="华文新魏"/>
              </a:endParaRPr>
            </a:p>
          </p:txBody>
        </p:sp>
      </p:grpSp>
      <p:grpSp>
        <p:nvGrpSpPr>
          <p:cNvPr id="6" name="Group 5">
            <a:extLst>
              <a:ext uri="{FF2B5EF4-FFF2-40B4-BE49-F238E27FC236}">
                <a16:creationId xmlns:a16="http://schemas.microsoft.com/office/drawing/2014/main" id="{04813BB1-DC8D-4932-F929-E47AAEA48961}"/>
              </a:ext>
            </a:extLst>
          </p:cNvPr>
          <p:cNvGrpSpPr/>
          <p:nvPr/>
        </p:nvGrpSpPr>
        <p:grpSpPr>
          <a:xfrm>
            <a:off x="9140225" y="1931885"/>
            <a:ext cx="2501660" cy="3673529"/>
            <a:chOff x="8606552" y="1912187"/>
            <a:chExt cx="2501660" cy="3673529"/>
          </a:xfrm>
        </p:grpSpPr>
        <p:sp>
          <p:nvSpPr>
            <p:cNvPr id="10" name="矩形: 圆角 9">
              <a:extLst>
                <a:ext uri="{FF2B5EF4-FFF2-40B4-BE49-F238E27FC236}">
                  <a16:creationId xmlns:a16="http://schemas.microsoft.com/office/drawing/2014/main" id="{5BCCF4D7-AD67-FE90-B349-6E577B3CD4D3}"/>
                </a:ext>
              </a:extLst>
            </p:cNvPr>
            <p:cNvSpPr/>
            <p:nvPr/>
          </p:nvSpPr>
          <p:spPr>
            <a:xfrm>
              <a:off x="8606553" y="1912187"/>
              <a:ext cx="2501659" cy="367352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2766FF6-00C0-5FDD-FEA3-0EDBAC049A38}"/>
                </a:ext>
              </a:extLst>
            </p:cNvPr>
            <p:cNvSpPr txBox="1"/>
            <p:nvPr/>
          </p:nvSpPr>
          <p:spPr>
            <a:xfrm>
              <a:off x="8606553" y="2170980"/>
              <a:ext cx="25016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solidFill>
                    <a:schemeClr val="accent1"/>
                  </a:solidFill>
                  <a:ea typeface="+mn-lt"/>
                  <a:cs typeface="+mn-lt"/>
                </a:rPr>
                <a:t>Signal </a:t>
              </a:r>
              <a:r>
                <a:rPr lang="en-US" altLang="zh-CN">
                  <a:solidFill>
                    <a:schemeClr val="accent1"/>
                  </a:solidFill>
                  <a:ea typeface="+mn-lt"/>
                  <a:cs typeface="+mn-lt"/>
                </a:rPr>
                <a:t>D</a:t>
              </a:r>
              <a:r>
                <a:rPr lang="zh-CN">
                  <a:solidFill>
                    <a:schemeClr val="accent1"/>
                  </a:solidFill>
                  <a:ea typeface="+mn-lt"/>
                  <a:cs typeface="+mn-lt"/>
                </a:rPr>
                <a:t>igitization</a:t>
              </a:r>
              <a:endParaRPr lang="zh-CN">
                <a:solidFill>
                  <a:schemeClr val="accent1"/>
                </a:solidFill>
                <a:ea typeface="华文新魏"/>
              </a:endParaRPr>
            </a:p>
          </p:txBody>
        </p:sp>
        <p:sp>
          <p:nvSpPr>
            <p:cNvPr id="22" name="文本框 21">
              <a:extLst>
                <a:ext uri="{FF2B5EF4-FFF2-40B4-BE49-F238E27FC236}">
                  <a16:creationId xmlns:a16="http://schemas.microsoft.com/office/drawing/2014/main" id="{AF5CCB4C-F68A-F7E9-FEDC-DB66F221A8E7}"/>
                </a:ext>
              </a:extLst>
            </p:cNvPr>
            <p:cNvSpPr txBox="1"/>
            <p:nvPr/>
          </p:nvSpPr>
          <p:spPr>
            <a:xfrm>
              <a:off x="8606552" y="2679784"/>
              <a:ext cx="2501659" cy="26314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600"/>
                </a:spcBef>
              </a:pPr>
              <a:r>
                <a:rPr lang="zh-CN" sz="1400">
                  <a:ea typeface="+mn-lt"/>
                  <a:cs typeface="+mn-lt"/>
                </a:rPr>
                <a:t>OpenCV + signal processing</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Crop mask using YOLO boxes</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Extract contours</a:t>
              </a:r>
              <a:endParaRPr lang="en-US" altLang="zh-CN" sz="1400">
                <a:ea typeface="+mn-lt"/>
                <a:cs typeface="+mn-lt"/>
              </a:endParaRPr>
            </a:p>
            <a:p>
              <a:pPr marL="285750" indent="-285750">
                <a:spcBef>
                  <a:spcPts val="600"/>
                </a:spcBef>
                <a:buFont typeface="Arial" panose="020B0604020202020204" pitchFamily="34" charset="0"/>
                <a:buChar char="•"/>
              </a:pPr>
              <a:r>
                <a:rPr lang="zh-CN" sz="1400">
                  <a:ea typeface="+mn-lt"/>
                  <a:cs typeface="+mn-lt"/>
                </a:rPr>
                <a:t>Column-wise median</a:t>
              </a:r>
              <a:r>
                <a:rPr lang="en-US" altLang="zh-CN" sz="1400">
                  <a:ea typeface="+mn-lt"/>
                  <a:cs typeface="+mn-lt"/>
                </a:rPr>
                <a:t>; </a:t>
              </a:r>
              <a:r>
                <a:rPr lang="zh-CN" sz="1400">
                  <a:ea typeface="+mn-lt"/>
                  <a:cs typeface="+mn-lt"/>
                </a:rPr>
                <a:t>one y-position per x</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Pixel → time/voltage (0.04 s / 0.1 mV)</a:t>
              </a:r>
              <a:endParaRPr lang="zh-CN" sz="1400">
                <a:ea typeface="华文新魏"/>
              </a:endParaRPr>
            </a:p>
            <a:p>
              <a:pPr marL="285750" indent="-285750">
                <a:spcBef>
                  <a:spcPts val="600"/>
                </a:spcBef>
                <a:buFont typeface="Arial" panose="020B0604020202020204" pitchFamily="34" charset="0"/>
                <a:buChar char="•"/>
              </a:pPr>
              <a:r>
                <a:rPr lang="zh-CN" sz="1400">
                  <a:ea typeface="+mn-lt"/>
                  <a:cs typeface="+mn-lt"/>
                </a:rPr>
                <a:t>Sliding-window baseline estimate</a:t>
              </a:r>
              <a:endParaRPr lang="zh-CN" sz="1400">
                <a:ea typeface="华文新魏"/>
              </a:endParaRPr>
            </a:p>
          </p:txBody>
        </p:sp>
      </p:grpSp>
      <p:sp>
        <p:nvSpPr>
          <p:cNvPr id="23" name="Right Arrow 22">
            <a:extLst>
              <a:ext uri="{FF2B5EF4-FFF2-40B4-BE49-F238E27FC236}">
                <a16:creationId xmlns:a16="http://schemas.microsoft.com/office/drawing/2014/main" id="{B2E29515-BC11-C85F-0457-5BA572B9DF3F}"/>
              </a:ext>
            </a:extLst>
          </p:cNvPr>
          <p:cNvSpPr/>
          <p:nvPr/>
        </p:nvSpPr>
        <p:spPr>
          <a:xfrm>
            <a:off x="3023099" y="3488001"/>
            <a:ext cx="342635" cy="300000"/>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ight Arrow 23">
            <a:extLst>
              <a:ext uri="{FF2B5EF4-FFF2-40B4-BE49-F238E27FC236}">
                <a16:creationId xmlns:a16="http://schemas.microsoft.com/office/drawing/2014/main" id="{477B145E-E688-62DC-8BF7-B029E92A5DB3}"/>
              </a:ext>
            </a:extLst>
          </p:cNvPr>
          <p:cNvSpPr/>
          <p:nvPr/>
        </p:nvSpPr>
        <p:spPr>
          <a:xfrm>
            <a:off x="5897563" y="3496263"/>
            <a:ext cx="342635" cy="300000"/>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ight Arrow 24">
            <a:extLst>
              <a:ext uri="{FF2B5EF4-FFF2-40B4-BE49-F238E27FC236}">
                <a16:creationId xmlns:a16="http://schemas.microsoft.com/office/drawing/2014/main" id="{8AE60537-305A-D42C-901B-AA00255EFF9D}"/>
              </a:ext>
            </a:extLst>
          </p:cNvPr>
          <p:cNvSpPr/>
          <p:nvPr/>
        </p:nvSpPr>
        <p:spPr>
          <a:xfrm>
            <a:off x="8756236" y="3496263"/>
            <a:ext cx="383988" cy="300000"/>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1C621E59-6B36-CC4B-396F-A0A08B63A2CD}"/>
              </a:ext>
            </a:extLst>
          </p:cNvPr>
          <p:cNvSpPr txBox="1"/>
          <p:nvPr/>
        </p:nvSpPr>
        <p:spPr>
          <a:xfrm>
            <a:off x="323281" y="5764109"/>
            <a:ext cx="9304774" cy="814903"/>
          </a:xfrm>
          <a:prstGeom prst="rect">
            <a:avLst/>
          </a:prstGeom>
          <a:noFill/>
        </p:spPr>
        <p:txBody>
          <a:bodyPr wrap="square">
            <a:spAutoFit/>
          </a:bodyPr>
          <a:lstStyle/>
          <a:p>
            <a:pPr marL="285750" indent="-285750" algn="l">
              <a:lnSpc>
                <a:spcPct val="115000"/>
              </a:lnSpc>
              <a:buFont typeface="Arial" panose="020B0604020202020204" pitchFamily="34" charset="0"/>
              <a:buChar char="•"/>
            </a:pPr>
            <a:r>
              <a:rPr lang="en-US" sz="1400">
                <a:solidFill>
                  <a:srgbClr val="1A1A1A"/>
                </a:solidFill>
              </a:rPr>
              <a:t>Training images were self-generated from PTB-XL via ECG-Image-Kit, different configurations were made</a:t>
            </a:r>
          </a:p>
          <a:p>
            <a:pPr marL="285750" indent="-285750">
              <a:lnSpc>
                <a:spcPct val="115000"/>
              </a:lnSpc>
              <a:buFont typeface="Arial" panose="020B0604020202020204" pitchFamily="34" charset="0"/>
              <a:buChar char="•"/>
            </a:pPr>
            <a:r>
              <a:rPr lang="en-US" altLang="zh-CN" sz="1400">
                <a:ea typeface="+mn-lt"/>
                <a:cs typeface="+mn-lt"/>
              </a:rPr>
              <a:t>Five generation configurations were used for training and ten for the held-out data</a:t>
            </a:r>
          </a:p>
          <a:p>
            <a:pPr marL="285750" indent="-285750">
              <a:lnSpc>
                <a:spcPct val="115000"/>
              </a:lnSpc>
              <a:buFont typeface="Arial" panose="020B0604020202020204" pitchFamily="34" charset="0"/>
              <a:buChar char="•"/>
            </a:pPr>
            <a:r>
              <a:rPr lang="en-US" altLang="zh-CN" sz="1400">
                <a:ea typeface="+mn-lt"/>
                <a:cs typeface="+mn-lt"/>
              </a:rPr>
              <a:t>6 of 10 held-out generation configurations were unseen during training</a:t>
            </a:r>
            <a:endParaRPr lang="en-US" sz="1400">
              <a:solidFill>
                <a:srgbClr val="1A1A1A"/>
              </a:solidFill>
            </a:endParaRPr>
          </a:p>
        </p:txBody>
      </p:sp>
    </p:spTree>
    <p:extLst>
      <p:ext uri="{BB962C8B-B14F-4D97-AF65-F5344CB8AC3E}">
        <p14:creationId xmlns:p14="http://schemas.microsoft.com/office/powerpoint/2010/main" val="26981786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TotalTime>
  <Words>4778</Words>
  <Application>Microsoft Macintosh PowerPoint</Application>
  <PresentationFormat>Widescreen</PresentationFormat>
  <Paragraphs>305</Paragraphs>
  <Slides>15</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华文新魏</vt:lpstr>
      <vt:lpstr>Arial</vt:lpstr>
      <vt:lpstr>Calibri</vt:lpstr>
      <vt:lpstr>Cambria Math</vt:lpstr>
      <vt:lpstr>Courier New</vt:lpstr>
      <vt:lpstr>方正姚体</vt:lpstr>
      <vt:lpstr>Trebuchet MS</vt:lpstr>
      <vt:lpstr>Wingdings 3</vt:lpstr>
      <vt:lpstr>Facet</vt:lpstr>
      <vt:lpstr>ECG Image Digitization</vt:lpstr>
      <vt:lpstr>Background</vt:lpstr>
      <vt:lpstr>Comparison of Approaches</vt:lpstr>
      <vt:lpstr>Evaluation Metric 1 – Pearson Correlation</vt:lpstr>
      <vt:lpstr>Evaluation Metric 2 – Signal to Noise Ratio</vt:lpstr>
      <vt:lpstr>Creating Distorted Data</vt:lpstr>
      <vt:lpstr>PhysioNet Challenge Dataset</vt:lpstr>
      <vt:lpstr>Subgroup Analysis – Distortion Type</vt:lpstr>
      <vt:lpstr>Subgroup Analysis – Diagnosis Type</vt:lpstr>
      <vt:lpstr>Next Steps</vt:lpstr>
      <vt:lpstr>Thank you for listening</vt:lpstr>
      <vt:lpstr>References</vt:lpstr>
      <vt:lpstr>Baseline Algorithm Replication</vt:lpstr>
      <vt:lpstr>SignalSavants – University of Oxford</vt:lpstr>
      <vt:lpstr>WAVIE Method – University of Auckland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Ansh Goyal</cp:lastModifiedBy>
  <cp:revision>2</cp:revision>
  <cp:lastPrinted>2026-10-08T17:19:33Z</cp:lastPrinted>
  <dcterms:created xsi:type="dcterms:W3CDTF">2026-09-22T19:13:30Z</dcterms:created>
  <dcterms:modified xsi:type="dcterms:W3CDTF">2026-10-29T19:14:44Z</dcterms:modified>
</cp:coreProperties>
</file>